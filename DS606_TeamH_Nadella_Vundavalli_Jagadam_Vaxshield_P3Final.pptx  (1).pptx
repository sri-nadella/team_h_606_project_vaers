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8229600" cx="14630400"/>
  <p:notesSz cx="8229600" cy="14630400"/>
  <p:embeddedFontLst>
    <p:embeddedFont>
      <p:font typeface="Roboto Slab"/>
      <p:regular r:id="rId31"/>
      <p:bold r:id="rId32"/>
    </p:embeddedFont>
    <p:embeddedFont>
      <p:font typeface="Funnel Sans"/>
      <p:regular r:id="rId33"/>
      <p:bold r:id="rId34"/>
      <p:italic r:id="rId35"/>
      <p:boldItalic r:id="rId36"/>
    </p:embeddedFont>
    <p:embeddedFont>
      <p:font typeface="Roboto"/>
      <p:regular r:id="rId37"/>
      <p:bold r:id="rId38"/>
      <p:italic r:id="rId39"/>
      <p:boldItalic r:id="rId40"/>
    </p:embeddedFont>
    <p:embeddedFont>
      <p:font typeface="Funnel Display"/>
      <p:regular r:id="rId41"/>
      <p:bold r:id="rId42"/>
    </p:embeddedFont>
    <p:embeddedFont>
      <p:font typeface="Fira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6.xml"/><Relationship Id="rId42" Type="http://schemas.openxmlformats.org/officeDocument/2006/relationships/font" Target="fonts/FunnelDisplay-bold.fntdata"/><Relationship Id="rId41" Type="http://schemas.openxmlformats.org/officeDocument/2006/relationships/font" Target="fonts/FunnelDisplay-regular.fntdata"/><Relationship Id="rId22" Type="http://schemas.openxmlformats.org/officeDocument/2006/relationships/slide" Target="slides/slide18.xml"/><Relationship Id="rId44" Type="http://schemas.openxmlformats.org/officeDocument/2006/relationships/font" Target="fonts/FiraSans-bold.fntdata"/><Relationship Id="rId21" Type="http://schemas.openxmlformats.org/officeDocument/2006/relationships/slide" Target="slides/slide17.xml"/><Relationship Id="rId43" Type="http://schemas.openxmlformats.org/officeDocument/2006/relationships/font" Target="fonts/FiraSans-regular.fntdata"/><Relationship Id="rId24" Type="http://schemas.openxmlformats.org/officeDocument/2006/relationships/slide" Target="slides/slide20.xml"/><Relationship Id="rId46" Type="http://schemas.openxmlformats.org/officeDocument/2006/relationships/font" Target="fonts/FiraSans-boldItalic.fntdata"/><Relationship Id="rId23" Type="http://schemas.openxmlformats.org/officeDocument/2006/relationships/slide" Target="slides/slide19.xml"/><Relationship Id="rId45" Type="http://schemas.openxmlformats.org/officeDocument/2006/relationships/font" Target="fonts/Fira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Slab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FunnelSans-regular.fntdata"/><Relationship Id="rId10" Type="http://schemas.openxmlformats.org/officeDocument/2006/relationships/slide" Target="slides/slide6.xml"/><Relationship Id="rId32" Type="http://schemas.openxmlformats.org/officeDocument/2006/relationships/font" Target="fonts/RobotoSlab-bold.fntdata"/><Relationship Id="rId13" Type="http://schemas.openxmlformats.org/officeDocument/2006/relationships/slide" Target="slides/slide9.xml"/><Relationship Id="rId35" Type="http://schemas.openxmlformats.org/officeDocument/2006/relationships/font" Target="fonts/FunnelSans-italic.fntdata"/><Relationship Id="rId12" Type="http://schemas.openxmlformats.org/officeDocument/2006/relationships/slide" Target="slides/slide8.xml"/><Relationship Id="rId34" Type="http://schemas.openxmlformats.org/officeDocument/2006/relationships/font" Target="fonts/FunnelSans-bold.fntdata"/><Relationship Id="rId15" Type="http://schemas.openxmlformats.org/officeDocument/2006/relationships/slide" Target="slides/slide11.xml"/><Relationship Id="rId37" Type="http://schemas.openxmlformats.org/officeDocument/2006/relationships/font" Target="fonts/Roboto-regular.fntdata"/><Relationship Id="rId14" Type="http://schemas.openxmlformats.org/officeDocument/2006/relationships/slide" Target="slides/slide10.xml"/><Relationship Id="rId36" Type="http://schemas.openxmlformats.org/officeDocument/2006/relationships/font" Target="fonts/FunnelSans-boldItalic.fntdata"/><Relationship Id="rId17" Type="http://schemas.openxmlformats.org/officeDocument/2006/relationships/slide" Target="slides/slide13.xml"/><Relationship Id="rId39" Type="http://schemas.openxmlformats.org/officeDocument/2006/relationships/font" Target="fonts/Roboto-italic.fntdata"/><Relationship Id="rId16" Type="http://schemas.openxmlformats.org/officeDocument/2006/relationships/slide" Target="slides/slide12.xml"/><Relationship Id="rId38" Type="http://schemas.openxmlformats.org/officeDocument/2006/relationships/font" Target="fonts/Roboto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f73809142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af73809142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af73809142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8" name="Google Shape;48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2439680" y="1076169"/>
            <a:ext cx="1730600" cy="179992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457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" name="Google Shape;15;p2"/>
          <p:cNvSpPr/>
          <p:nvPr/>
        </p:nvSpPr>
        <p:spPr>
          <a:xfrm rot="10800000">
            <a:off x="10460100" y="5348680"/>
            <a:ext cx="1730600" cy="179992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457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6" name="Google Shape;16;p2"/>
          <p:cNvCxnSpPr/>
          <p:nvPr/>
        </p:nvCxnSpPr>
        <p:spPr>
          <a:xfrm>
            <a:off x="6975363" y="4507942"/>
            <a:ext cx="679800" cy="0"/>
          </a:xfrm>
          <a:prstGeom prst="straightConnector1">
            <a:avLst/>
          </a:prstGeom>
          <a:noFill/>
          <a:ln cap="flat" cmpd="sng" w="609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2"/>
          <p:cNvSpPr txBox="1"/>
          <p:nvPr>
            <p:ph type="ctrTitle"/>
          </p:nvPr>
        </p:nvSpPr>
        <p:spPr>
          <a:xfrm>
            <a:off x="2688482" y="1902280"/>
            <a:ext cx="9253500" cy="233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2688482" y="4879120"/>
            <a:ext cx="9253500" cy="1454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800"/>
              <a:buFont typeface="Roboto Slab"/>
              <a:buNone/>
              <a:defRPr sz="38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800"/>
              <a:buFont typeface="Roboto Slab"/>
              <a:buNone/>
              <a:defRPr sz="38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800"/>
              <a:buFont typeface="Roboto Slab"/>
              <a:buNone/>
              <a:defRPr sz="38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800"/>
              <a:buFont typeface="Roboto Slab"/>
              <a:buNone/>
              <a:defRPr sz="38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800"/>
              <a:buFont typeface="Roboto Slab"/>
              <a:buNone/>
              <a:defRPr sz="38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800"/>
              <a:buFont typeface="Roboto Slab"/>
              <a:buNone/>
              <a:defRPr sz="38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800"/>
              <a:buFont typeface="Roboto Slab"/>
              <a:buNone/>
              <a:defRPr sz="38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800"/>
              <a:buFont typeface="Roboto Slab"/>
              <a:buNone/>
              <a:defRPr sz="38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800"/>
              <a:buFont typeface="Roboto Slab"/>
              <a:buNone/>
              <a:defRPr sz="38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3"/>
          <p:cNvCxnSpPr/>
          <p:nvPr/>
        </p:nvCxnSpPr>
        <p:spPr>
          <a:xfrm>
            <a:off x="6975363" y="4507942"/>
            <a:ext cx="679800" cy="0"/>
          </a:xfrm>
          <a:prstGeom prst="straightConnector1">
            <a:avLst/>
          </a:prstGeom>
          <a:noFill/>
          <a:ln cap="flat" cmpd="sng" w="609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 txBox="1"/>
          <p:nvPr>
            <p:ph type="title"/>
          </p:nvPr>
        </p:nvSpPr>
        <p:spPr>
          <a:xfrm>
            <a:off x="769200" y="2823920"/>
            <a:ext cx="13155300" cy="14520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4"/>
          <p:cNvCxnSpPr/>
          <p:nvPr/>
        </p:nvCxnSpPr>
        <p:spPr>
          <a:xfrm>
            <a:off x="788100" y="2016454"/>
            <a:ext cx="679800" cy="0"/>
          </a:xfrm>
          <a:prstGeom prst="straightConnector1">
            <a:avLst/>
          </a:prstGeom>
          <a:noFill/>
          <a:ln cap="flat" cmpd="sng" w="609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4"/>
          <p:cNvSpPr txBox="1"/>
          <p:nvPr>
            <p:ph type="title"/>
          </p:nvPr>
        </p:nvSpPr>
        <p:spPr>
          <a:xfrm>
            <a:off x="620640" y="732840"/>
            <a:ext cx="13389000" cy="10977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620640" y="2383718"/>
            <a:ext cx="13389000" cy="492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5"/>
          <p:cNvCxnSpPr/>
          <p:nvPr/>
        </p:nvCxnSpPr>
        <p:spPr>
          <a:xfrm>
            <a:off x="788100" y="2016454"/>
            <a:ext cx="679800" cy="0"/>
          </a:xfrm>
          <a:prstGeom prst="straightConnector1">
            <a:avLst/>
          </a:prstGeom>
          <a:noFill/>
          <a:ln cap="flat" cmpd="sng" w="609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5"/>
          <p:cNvSpPr txBox="1"/>
          <p:nvPr>
            <p:ph type="title"/>
          </p:nvPr>
        </p:nvSpPr>
        <p:spPr>
          <a:xfrm>
            <a:off x="620640" y="732840"/>
            <a:ext cx="13389000" cy="10977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620640" y="2383720"/>
            <a:ext cx="6399900" cy="492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7609920" y="2383720"/>
            <a:ext cx="6399900" cy="492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620640" y="732840"/>
            <a:ext cx="13389000" cy="10977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782749" y="2259643"/>
            <a:ext cx="530400" cy="0"/>
          </a:xfrm>
          <a:prstGeom prst="straightConnector1">
            <a:avLst/>
          </a:prstGeom>
          <a:noFill/>
          <a:ln cap="flat" cmpd="sng" w="609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620640" y="888960"/>
            <a:ext cx="4492800" cy="12090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620640" y="2550440"/>
            <a:ext cx="4492800" cy="42897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784400" y="842160"/>
            <a:ext cx="8989800" cy="65454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7315200" y="-120"/>
            <a:ext cx="7315200" cy="822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8047480" y="7192805"/>
            <a:ext cx="865500" cy="0"/>
          </a:xfrm>
          <a:prstGeom prst="straightConnector1">
            <a:avLst/>
          </a:prstGeom>
          <a:noFill/>
          <a:ln cap="flat" cmpd="sng" w="609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424800" y="1934520"/>
            <a:ext cx="6472200" cy="24102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424800" y="4430402"/>
            <a:ext cx="6472200" cy="2152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00"/>
              <a:buNone/>
              <a:defRPr sz="34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00"/>
              <a:buNone/>
              <a:defRPr sz="34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00"/>
              <a:buNone/>
              <a:defRPr sz="34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00"/>
              <a:buNone/>
              <a:defRPr sz="34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00"/>
              <a:buNone/>
              <a:defRPr sz="34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00"/>
              <a:buNone/>
              <a:defRPr sz="34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00"/>
              <a:buNone/>
              <a:defRPr sz="34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00"/>
              <a:buNone/>
              <a:defRPr sz="34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00"/>
              <a:buNone/>
              <a:defRPr sz="34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7903200" y="1158720"/>
            <a:ext cx="6139200" cy="59121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511200" y="6773960"/>
            <a:ext cx="9598200" cy="958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240" y="8122920"/>
            <a:ext cx="14629800" cy="106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620640" y="1843920"/>
            <a:ext cx="13389000" cy="24615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800"/>
              <a:buNone/>
              <a:defRPr sz="20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800"/>
              <a:buNone/>
              <a:defRPr sz="208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800"/>
              <a:buNone/>
              <a:defRPr sz="208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800"/>
              <a:buNone/>
              <a:defRPr sz="208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800"/>
              <a:buNone/>
              <a:defRPr sz="208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800"/>
              <a:buNone/>
              <a:defRPr sz="208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800"/>
              <a:buNone/>
              <a:defRPr sz="208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800"/>
              <a:buNone/>
              <a:defRPr sz="208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800"/>
              <a:buNone/>
              <a:defRPr sz="208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620640" y="4671120"/>
            <a:ext cx="13389000" cy="1714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ctr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" name="Google Shape;8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5" name="Google Shape;8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8" name="Google Shape;8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0640" y="732840"/>
            <a:ext cx="13389000" cy="109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0640" y="2383718"/>
            <a:ext cx="13389000" cy="49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Char char="●"/>
              <a:defRPr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  <a:defRPr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■"/>
              <a:defRPr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  <a:defRPr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  <a:defRPr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■"/>
              <a:defRPr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  <a:defRPr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  <a:defRPr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■"/>
              <a:defRPr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r"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jpg"/><Relationship Id="rId4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cdc.gov/vaccine-safety-systems/vaers/index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hyperlink" Target="https://arxiv.org/abs/1706.09516" TargetMode="External"/><Relationship Id="rId5" Type="http://schemas.openxmlformats.org/officeDocument/2006/relationships/image" Target="../media/image15.png"/><Relationship Id="rId6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vaers.hhs.gov/data/datasets.html" TargetMode="External"/><Relationship Id="rId4" Type="http://schemas.openxmlformats.org/officeDocument/2006/relationships/hyperlink" Target="https://www.ema.europa.eu/en/documents/other/inclusion-exclusion-criteria-important-medical-events-ime-list_en.pdf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arxiv.org/abs/1706.09516" TargetMode="External"/><Relationship Id="rId4" Type="http://schemas.openxmlformats.org/officeDocument/2006/relationships/hyperlink" Target="https://pmc.ncbi.nlm.nih.gov/articles/PMC8352788/" TargetMode="External"/><Relationship Id="rId5" Type="http://schemas.openxmlformats.org/officeDocument/2006/relationships/hyperlink" Target="https://historyofvaccines.org/getting-vaccinated/vaccine-faq/vaccine-side-effects-and-adverse-events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/>
          <p:nvPr/>
        </p:nvSpPr>
        <p:spPr>
          <a:xfrm>
            <a:off x="475100" y="501250"/>
            <a:ext cx="13069800" cy="27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t/>
            </a:r>
            <a:endParaRPr b="0" i="0" sz="5900" u="none" cap="none" strike="noStrike">
              <a:solidFill>
                <a:srgbClr val="0000FF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520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VaxShield AI: Predicting Vaccine Adverse Event Seriousness using Catboost Risk</a:t>
            </a:r>
            <a:r>
              <a:rPr b="1" lang="en-US" sz="5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5900">
              <a:solidFill>
                <a:srgbClr val="0000FF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96" name="Google Shape;96;p22"/>
          <p:cNvSpPr/>
          <p:nvPr/>
        </p:nvSpPr>
        <p:spPr>
          <a:xfrm>
            <a:off x="475099" y="5059177"/>
            <a:ext cx="74685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t/>
            </a:r>
            <a:endParaRPr b="0" i="0" sz="1850" u="none" cap="none" strike="noStrike">
              <a:solidFill>
                <a:srgbClr val="2B3541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2"/>
          <p:cNvSpPr txBox="1"/>
          <p:nvPr/>
        </p:nvSpPr>
        <p:spPr>
          <a:xfrm>
            <a:off x="599100" y="4918850"/>
            <a:ext cx="12612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606 Capstone in Data Science</a:t>
            </a:r>
            <a:endParaRPr sz="2000">
              <a:solidFill>
                <a:srgbClr val="051D3A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guidance: Unal Sakoglu </a:t>
            </a:r>
            <a:endParaRPr sz="2000">
              <a:solidFill>
                <a:srgbClr val="051D3A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51D3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2000">
              <a:solidFill>
                <a:srgbClr val="051D3A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Spoorthy Nadella</a:t>
            </a:r>
            <a:endParaRPr sz="2000">
              <a:solidFill>
                <a:srgbClr val="051D3A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Sarath Chandra Vundavalli </a:t>
            </a:r>
            <a:endParaRPr sz="2000">
              <a:solidFill>
                <a:srgbClr val="051D3A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Sree Sai Sankalp Jagadam</a:t>
            </a:r>
            <a:endParaRPr sz="2000">
              <a:solidFill>
                <a:srgbClr val="051D3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/>
          <p:nvPr/>
        </p:nvSpPr>
        <p:spPr>
          <a:xfrm>
            <a:off x="837724" y="1975485"/>
            <a:ext cx="10933867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The Challenge of Real-Time AE Prediction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3"/>
          <p:cNvSpPr/>
          <p:nvPr/>
        </p:nvSpPr>
        <p:spPr>
          <a:xfrm>
            <a:off x="837724" y="3158252"/>
            <a:ext cx="4158734" cy="3095863"/>
          </a:xfrm>
          <a:prstGeom prst="roundRect">
            <a:avLst>
              <a:gd fmla="val 3248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3"/>
          <p:cNvSpPr/>
          <p:nvPr/>
        </p:nvSpPr>
        <p:spPr>
          <a:xfrm>
            <a:off x="1084659" y="3405188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6" name="Google Shape;1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065" y="3602593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3"/>
          <p:cNvSpPr/>
          <p:nvPr/>
        </p:nvSpPr>
        <p:spPr>
          <a:xfrm>
            <a:off x="1084659" y="4362569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Core Problem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3"/>
          <p:cNvSpPr/>
          <p:nvPr/>
        </p:nvSpPr>
        <p:spPr>
          <a:xfrm>
            <a:off x="1084659" y="4858107"/>
            <a:ext cx="366486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Unstructured vaccine Adverse Event (AE) reports are difficult to classify in real-time.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3"/>
          <p:cNvSpPr/>
          <p:nvPr/>
        </p:nvSpPr>
        <p:spPr>
          <a:xfrm>
            <a:off x="5235773" y="3158252"/>
            <a:ext cx="4158734" cy="3095863"/>
          </a:xfrm>
          <a:prstGeom prst="roundRect">
            <a:avLst>
              <a:gd fmla="val 3248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3"/>
          <p:cNvSpPr/>
          <p:nvPr/>
        </p:nvSpPr>
        <p:spPr>
          <a:xfrm>
            <a:off x="5482709" y="3405188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1" name="Google Shape;11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0115" y="3602593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3"/>
          <p:cNvSpPr/>
          <p:nvPr/>
        </p:nvSpPr>
        <p:spPr>
          <a:xfrm>
            <a:off x="5482709" y="4362569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Goal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3"/>
          <p:cNvSpPr/>
          <p:nvPr/>
        </p:nvSpPr>
        <p:spPr>
          <a:xfrm>
            <a:off x="5482709" y="4858107"/>
            <a:ext cx="366486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Develop an AI system to instantly predict if a new report is Serious (Death, Hospitalization, Disability).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3"/>
          <p:cNvSpPr/>
          <p:nvPr/>
        </p:nvSpPr>
        <p:spPr>
          <a:xfrm>
            <a:off x="9633823" y="3158252"/>
            <a:ext cx="4158853" cy="3095863"/>
          </a:xfrm>
          <a:prstGeom prst="roundRect">
            <a:avLst>
              <a:gd fmla="val 3248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3"/>
          <p:cNvSpPr/>
          <p:nvPr/>
        </p:nvSpPr>
        <p:spPr>
          <a:xfrm>
            <a:off x="9880759" y="3405188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6" name="Google Shape;11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8164" y="3602593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/>
          <p:nvPr/>
        </p:nvSpPr>
        <p:spPr>
          <a:xfrm>
            <a:off x="9880759" y="4362569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Impact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3"/>
          <p:cNvSpPr/>
          <p:nvPr/>
        </p:nvSpPr>
        <p:spPr>
          <a:xfrm>
            <a:off x="9880759" y="4858107"/>
            <a:ext cx="3664982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Provides an early warning signal for researchers and safety monitors.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/>
          <p:nvPr/>
        </p:nvSpPr>
        <p:spPr>
          <a:xfrm>
            <a:off x="837724" y="2168962"/>
            <a:ext cx="9157097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Phase 2: Data &amp; Baseline Modeling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4"/>
          <p:cNvSpPr/>
          <p:nvPr/>
        </p:nvSpPr>
        <p:spPr>
          <a:xfrm>
            <a:off x="837724" y="296870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Foundation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4"/>
          <p:cNvSpPr/>
          <p:nvPr/>
        </p:nvSpPr>
        <p:spPr>
          <a:xfrm>
            <a:off x="837724" y="3679627"/>
            <a:ext cx="239316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Display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837724" y="4055983"/>
            <a:ext cx="4158734" cy="30480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/>
          <p:nvPr/>
        </p:nvSpPr>
        <p:spPr>
          <a:xfrm>
            <a:off x="1077049" y="3653264"/>
            <a:ext cx="2816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Data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4"/>
          <p:cNvSpPr/>
          <p:nvPr/>
        </p:nvSpPr>
        <p:spPr>
          <a:xfrm>
            <a:off x="837724" y="5018889"/>
            <a:ext cx="41586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Sourced and cleaned VAERS reports (2015-2025) across 4 major vaccines (COVID, FLU, VARZOS, PPV).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4"/>
          <p:cNvSpPr/>
          <p:nvPr/>
        </p:nvSpPr>
        <p:spPr>
          <a:xfrm>
            <a:off x="5235773" y="3679627"/>
            <a:ext cx="239316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Display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4"/>
          <p:cNvSpPr/>
          <p:nvPr/>
        </p:nvSpPr>
        <p:spPr>
          <a:xfrm>
            <a:off x="5235773" y="4055983"/>
            <a:ext cx="4158734" cy="30480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4"/>
          <p:cNvSpPr/>
          <p:nvPr/>
        </p:nvSpPr>
        <p:spPr>
          <a:xfrm>
            <a:off x="5475111" y="3653276"/>
            <a:ext cx="2816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Target Definition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4"/>
          <p:cNvSpPr/>
          <p:nvPr/>
        </p:nvSpPr>
        <p:spPr>
          <a:xfrm>
            <a:off x="5235711" y="5115164"/>
            <a:ext cx="41586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Defined "Serious" using clinical outcomes and the MedDRA IME List.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4"/>
          <p:cNvSpPr/>
          <p:nvPr/>
        </p:nvSpPr>
        <p:spPr>
          <a:xfrm>
            <a:off x="9633823" y="3679627"/>
            <a:ext cx="239316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Display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4"/>
          <p:cNvSpPr/>
          <p:nvPr/>
        </p:nvSpPr>
        <p:spPr>
          <a:xfrm>
            <a:off x="9633823" y="4055983"/>
            <a:ext cx="4158853" cy="30480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4"/>
          <p:cNvSpPr/>
          <p:nvPr/>
        </p:nvSpPr>
        <p:spPr>
          <a:xfrm>
            <a:off x="9873148" y="3653276"/>
            <a:ext cx="2816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Feature Engineering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4"/>
          <p:cNvSpPr/>
          <p:nvPr/>
        </p:nvSpPr>
        <p:spPr>
          <a:xfrm>
            <a:off x="9633673" y="5018864"/>
            <a:ext cx="41589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Used TF-IDF Vectorizer for symptom text and StandardScaler for numeric data.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/>
          <p:nvPr/>
        </p:nvSpPr>
        <p:spPr>
          <a:xfrm>
            <a:off x="820341" y="644485"/>
            <a:ext cx="9211747" cy="68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300"/>
              <a:buFont typeface="Funnel Display"/>
              <a:buNone/>
            </a:pPr>
            <a:r>
              <a:rPr b="0" i="0" lang="en-US" sz="43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Initial Model Performance (Phase 2)</a:t>
            </a:r>
            <a:endParaRPr b="0" i="0" sz="4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820341" y="1919645"/>
            <a:ext cx="2757488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150"/>
              <a:buFont typeface="Funnel Display"/>
              <a:buNone/>
            </a:pPr>
            <a:r>
              <a:t/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820341" y="7328892"/>
            <a:ext cx="12989719" cy="375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Sans"/>
              <a:buNone/>
            </a:pPr>
            <a:r>
              <a:rPr b="1" i="0" lang="en-US" sz="1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Visual Aid:</a:t>
            </a:r>
            <a:r>
              <a:rPr b="0" i="0" lang="en-US" sz="1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Table summarizing the results of Logistic Regression, Random Forest, and XGBoost.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5" title="WhatsApp Image 2025-12-10 at 6.19.11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750" y="2973138"/>
            <a:ext cx="138112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 title="WhatsApp Image 2025-12-10 at 6.19.02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750" y="6075613"/>
            <a:ext cx="1381125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 txBox="1"/>
          <p:nvPr/>
        </p:nvSpPr>
        <p:spPr>
          <a:xfrm>
            <a:off x="2774700" y="1891888"/>
            <a:ext cx="908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PPV</a:t>
            </a:r>
            <a:endParaRPr b="1" sz="2200"/>
          </a:p>
        </p:txBody>
      </p:sp>
      <p:sp>
        <p:nvSpPr>
          <p:cNvPr id="149" name="Google Shape;149;p25"/>
          <p:cNvSpPr txBox="1"/>
          <p:nvPr/>
        </p:nvSpPr>
        <p:spPr>
          <a:xfrm>
            <a:off x="2690625" y="5243850"/>
            <a:ext cx="908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COVID</a:t>
            </a:r>
            <a:endParaRPr b="1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/>
          <p:nvPr/>
        </p:nvSpPr>
        <p:spPr>
          <a:xfrm>
            <a:off x="820341" y="644485"/>
            <a:ext cx="92118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300"/>
              <a:buFont typeface="Funnel Display"/>
              <a:buNone/>
            </a:pPr>
            <a:r>
              <a:rPr b="0" i="0" lang="en-US" sz="43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Initial Model Performance (Phase 2)</a:t>
            </a:r>
            <a:endParaRPr b="0" i="0" sz="4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820341" y="1919645"/>
            <a:ext cx="2757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150"/>
              <a:buFont typeface="Funnel Display"/>
              <a:buNone/>
            </a:pPr>
            <a:r>
              <a:t/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820341" y="7328892"/>
            <a:ext cx="12989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Sans"/>
              <a:buNone/>
            </a:pPr>
            <a:r>
              <a:rPr b="1" i="0" lang="en-US" sz="1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Visual Aid:</a:t>
            </a:r>
            <a:r>
              <a:rPr b="0" i="0" lang="en-US" sz="1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Table summarizing the results of Logistic Regression, Random Forest, and XGBoost.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2774700" y="1891888"/>
            <a:ext cx="908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FLU</a:t>
            </a:r>
            <a:endParaRPr b="1" sz="2200"/>
          </a:p>
        </p:txBody>
      </p:sp>
      <p:sp>
        <p:nvSpPr>
          <p:cNvPr id="159" name="Google Shape;159;p26"/>
          <p:cNvSpPr txBox="1"/>
          <p:nvPr/>
        </p:nvSpPr>
        <p:spPr>
          <a:xfrm>
            <a:off x="2690625" y="5243850"/>
            <a:ext cx="908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VARZOS</a:t>
            </a:r>
            <a:endParaRPr b="1" sz="2200"/>
          </a:p>
        </p:txBody>
      </p:sp>
      <p:pic>
        <p:nvPicPr>
          <p:cNvPr id="160" name="Google Shape;160;p26" title="Screenshot 2025-10-22 at 17.44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600" y="2679629"/>
            <a:ext cx="13274573" cy="1927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 title="Screenshot 2025-10-22 at 17.45.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600" y="6022425"/>
            <a:ext cx="13542573" cy="20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/>
        </p:nvSpPr>
        <p:spPr>
          <a:xfrm>
            <a:off x="837724" y="1626751"/>
            <a:ext cx="11684794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Transition: The Need for Advanced Methods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7"/>
          <p:cNvSpPr/>
          <p:nvPr/>
        </p:nvSpPr>
        <p:spPr>
          <a:xfrm>
            <a:off x="837724" y="2809518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1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Conclusion: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XGBoost provided a strong baseline, but its performance was limited by: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7"/>
          <p:cNvSpPr/>
          <p:nvPr/>
        </p:nvSpPr>
        <p:spPr>
          <a:xfrm>
            <a:off x="837724" y="3820716"/>
            <a:ext cx="6357818" cy="2129790"/>
          </a:xfrm>
          <a:prstGeom prst="roundRect">
            <a:avLst>
              <a:gd fmla="val 6869" name="adj"/>
            </a:avLst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7"/>
          <p:cNvSpPr/>
          <p:nvPr/>
        </p:nvSpPr>
        <p:spPr>
          <a:xfrm>
            <a:off x="837724" y="3790236"/>
            <a:ext cx="6357818" cy="121920"/>
          </a:xfrm>
          <a:prstGeom prst="roundRect">
            <a:avLst>
              <a:gd fmla="val 82464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3657540" y="3461742"/>
            <a:ext cx="718066" cy="718066"/>
          </a:xfrm>
          <a:prstGeom prst="roundRect">
            <a:avLst>
              <a:gd fmla="val 127342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3872925" y="3641288"/>
            <a:ext cx="287179" cy="358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Funnel Display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2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1107519" y="4419124"/>
            <a:ext cx="3633787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Handling of Mixed Features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1107519" y="4914662"/>
            <a:ext cx="581822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Difficulty integrating text/categorical data efficiently.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7434858" y="3820716"/>
            <a:ext cx="6357818" cy="2129790"/>
          </a:xfrm>
          <a:prstGeom prst="roundRect">
            <a:avLst>
              <a:gd fmla="val 6869" name="adj"/>
            </a:avLst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7434858" y="3790236"/>
            <a:ext cx="6357818" cy="121920"/>
          </a:xfrm>
          <a:prstGeom prst="roundRect">
            <a:avLst>
              <a:gd fmla="val 82464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10254675" y="3461742"/>
            <a:ext cx="718066" cy="718066"/>
          </a:xfrm>
          <a:prstGeom prst="roundRect">
            <a:avLst>
              <a:gd fmla="val 127342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10470059" y="3641288"/>
            <a:ext cx="287179" cy="358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Funnel Display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2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7704653" y="441912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Data Imbalance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7704653" y="4914662"/>
            <a:ext cx="581822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Weakness in correctly identifying minority "Serious" cases (low Recall).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837724" y="6219706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1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Action: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Transition to the final phase by selecting an algorithm specialized for these challenges: </a:t>
            </a:r>
            <a:r>
              <a:rPr b="1" i="0" lang="en-US" sz="1850" u="none" cap="none" strike="noStrike">
                <a:solidFill>
                  <a:srgbClr val="3371A5"/>
                </a:solidFill>
                <a:latin typeface="Funnel Sans"/>
                <a:ea typeface="Funnel Sans"/>
                <a:cs typeface="Funnel Sans"/>
                <a:sym typeface="Funnel Sans"/>
              </a:rPr>
              <a:t>CatBoost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/>
          <p:nvPr/>
        </p:nvSpPr>
        <p:spPr>
          <a:xfrm>
            <a:off x="837724" y="1743670"/>
            <a:ext cx="9205913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Phase 3: CatBoost Implementation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1196697" y="3883819"/>
            <a:ext cx="3799642" cy="239316"/>
          </a:xfrm>
          <a:prstGeom prst="roundRect">
            <a:avLst>
              <a:gd fmla="val 42011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837724" y="3644444"/>
            <a:ext cx="718066" cy="718066"/>
          </a:xfrm>
          <a:prstGeom prst="roundRect">
            <a:avLst>
              <a:gd fmla="val 63671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0" name="Google Shape;19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270" y="3823990"/>
            <a:ext cx="358973" cy="35897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8"/>
          <p:cNvSpPr/>
          <p:nvPr/>
        </p:nvSpPr>
        <p:spPr>
          <a:xfrm>
            <a:off x="1077039" y="4601885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Training Strategy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1077039" y="5097423"/>
            <a:ext cx="368010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Four specialized CatBoost classifiers were trained (one per vaccine type).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5594747" y="3524726"/>
            <a:ext cx="3799642" cy="239316"/>
          </a:xfrm>
          <a:prstGeom prst="roundRect">
            <a:avLst>
              <a:gd fmla="val 42011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5235773" y="3285351"/>
            <a:ext cx="718066" cy="718066"/>
          </a:xfrm>
          <a:prstGeom prst="roundRect">
            <a:avLst>
              <a:gd fmla="val 63671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5" name="Google Shape;19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5320" y="3464897"/>
            <a:ext cx="358973" cy="35897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/>
          <p:nvPr/>
        </p:nvSpPr>
        <p:spPr>
          <a:xfrm>
            <a:off x="5475089" y="424279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Direct Feature Input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5475089" y="4738330"/>
            <a:ext cx="368010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Raw text and categorical columns were fed directly, utilizing CatBoost's native encoding.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9992797" y="3165753"/>
            <a:ext cx="3799761" cy="239316"/>
          </a:xfrm>
          <a:prstGeom prst="roundRect">
            <a:avLst>
              <a:gd fmla="val 42011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9633823" y="2926378"/>
            <a:ext cx="718066" cy="718066"/>
          </a:xfrm>
          <a:prstGeom prst="roundRect">
            <a:avLst>
              <a:gd fmla="val 63671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0" name="Google Shape;20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3369" y="3105924"/>
            <a:ext cx="358973" cy="35897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8"/>
          <p:cNvSpPr/>
          <p:nvPr/>
        </p:nvSpPr>
        <p:spPr>
          <a:xfrm>
            <a:off x="9873139" y="3883819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Tuning Metric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8"/>
          <p:cNvSpPr/>
          <p:nvPr/>
        </p:nvSpPr>
        <p:spPr>
          <a:xfrm>
            <a:off x="9873139" y="4379357"/>
            <a:ext cx="3680222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Hyperparameters were tuned specifically to maximize PR-AUC (Precision-Recall AUC).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/>
          <p:nvPr/>
        </p:nvSpPr>
        <p:spPr>
          <a:xfrm>
            <a:off x="837724" y="1976438"/>
            <a:ext cx="10127694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Literature: VAERS and Data Standards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9"/>
          <p:cNvSpPr/>
          <p:nvPr/>
        </p:nvSpPr>
        <p:spPr>
          <a:xfrm>
            <a:off x="837724" y="3159204"/>
            <a:ext cx="4158734" cy="3093839"/>
          </a:xfrm>
          <a:prstGeom prst="roundRect">
            <a:avLst>
              <a:gd fmla="val 3250" name="adj"/>
            </a:avLst>
          </a:prstGeom>
          <a:solidFill>
            <a:srgbClr val="FAF5EB"/>
          </a:solidFill>
          <a:ln cap="flat" cmpd="sng" w="3047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9"/>
          <p:cNvSpPr/>
          <p:nvPr/>
        </p:nvSpPr>
        <p:spPr>
          <a:xfrm>
            <a:off x="1107519" y="3429000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VAERS Justification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9"/>
          <p:cNvSpPr/>
          <p:nvPr/>
        </p:nvSpPr>
        <p:spPr>
          <a:xfrm>
            <a:off x="1107519" y="3924538"/>
            <a:ext cx="3619143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An essential early warning system (CDC/FDA), providing large-scale, public safety data for signal detection.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9"/>
          <p:cNvSpPr/>
          <p:nvPr/>
        </p:nvSpPr>
        <p:spPr>
          <a:xfrm>
            <a:off x="1107519" y="5600224"/>
            <a:ext cx="361914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Source: </a:t>
            </a:r>
            <a:r>
              <a:rPr b="0" i="0" lang="en-US" sz="1850" u="sng" cap="none" strike="noStrike">
                <a:solidFill>
                  <a:schemeClr val="hlink"/>
                </a:solidFill>
                <a:latin typeface="Funnel Sans"/>
                <a:ea typeface="Funnel Sans"/>
                <a:cs typeface="Funnel Sans"/>
                <a:sym typeface="Funnel Sans"/>
                <a:hlinkClick r:id="rId3"/>
              </a:rPr>
              <a:t>CDC VAERS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5235773" y="3159204"/>
            <a:ext cx="4158734" cy="3093839"/>
          </a:xfrm>
          <a:prstGeom prst="roundRect">
            <a:avLst>
              <a:gd fmla="val 3250" name="adj"/>
            </a:avLst>
          </a:prstGeom>
          <a:solidFill>
            <a:srgbClr val="FAF5EB"/>
          </a:solidFill>
          <a:ln cap="flat" cmpd="sng" w="3047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5505569" y="3429000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Limitations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5505569" y="3924538"/>
            <a:ext cx="361914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Self-reported nature means data is subject to bias and cannot determine causation.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9"/>
          <p:cNvSpPr/>
          <p:nvPr/>
        </p:nvSpPr>
        <p:spPr>
          <a:xfrm>
            <a:off x="9633823" y="3159204"/>
            <a:ext cx="4158853" cy="3093839"/>
          </a:xfrm>
          <a:prstGeom prst="roundRect">
            <a:avLst>
              <a:gd fmla="val 3250" name="adj"/>
            </a:avLst>
          </a:prstGeom>
          <a:solidFill>
            <a:srgbClr val="FAF5EB"/>
          </a:solidFill>
          <a:ln cap="flat" cmpd="sng" w="3047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9903619" y="3429000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Clinical Standard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9"/>
          <p:cNvSpPr/>
          <p:nvPr/>
        </p:nvSpPr>
        <p:spPr>
          <a:xfrm>
            <a:off x="9903619" y="3924538"/>
            <a:ext cx="3619262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Used MedDRA IME List for definitive, clinically sound classification of serious events.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9"/>
          <p:cNvSpPr/>
          <p:nvPr/>
        </p:nvSpPr>
        <p:spPr>
          <a:xfrm>
            <a:off x="9903619" y="5217200"/>
            <a:ext cx="3619262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Source: EMA IME List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/>
          <p:nvPr/>
        </p:nvSpPr>
        <p:spPr>
          <a:xfrm>
            <a:off x="837724" y="2190869"/>
            <a:ext cx="9562624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Literature: Vaccine Safety Systems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837724" y="3373636"/>
            <a:ext cx="6357818" cy="2665095"/>
          </a:xfrm>
          <a:prstGeom prst="roundRect">
            <a:avLst>
              <a:gd fmla="val 3772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1084641" y="3620575"/>
            <a:ext cx="57777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lang="en-US" sz="2200"/>
              <a:t>CDC Vaccine Safety &amp; VAERS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1084650" y="4116110"/>
            <a:ext cx="5864100" cy="50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The Vaccine Adverse Event Reporting System (VAERS) is a passive surveillance system jointly managed by the CDC and FDA.</a:t>
            </a:r>
            <a:endParaRPr sz="1450">
              <a:solidFill>
                <a:srgbClr val="2B3541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It collects reports of post-vaccination adverse events to identify early safety signals. Data are public and cover millions of records across all vaccine types.</a:t>
            </a:r>
            <a:endParaRPr sz="1450">
              <a:solidFill>
                <a:srgbClr val="2B3541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50">
              <a:solidFill>
                <a:srgbClr val="2B3541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Source: CDC Vaccine Safety Overview</a:t>
            </a:r>
            <a:endParaRPr sz="1450">
              <a:solidFill>
                <a:srgbClr val="2B3541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t/>
            </a:r>
            <a:endParaRPr sz="1850">
              <a:solidFill>
                <a:srgbClr val="2B354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1084659" y="5408771"/>
            <a:ext cx="586394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7434858" y="3373636"/>
            <a:ext cx="6357818" cy="2665095"/>
          </a:xfrm>
          <a:prstGeom prst="roundRect">
            <a:avLst>
              <a:gd fmla="val 3772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7681793" y="362057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50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Key Takeaways: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7681793" y="4116110"/>
            <a:ext cx="586394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VAERS provides the largest real-world dataset for safety signal detection. However, it is self-reported and  cannot establish causality, only correlation. </a:t>
            </a:r>
            <a:r>
              <a:rPr lang="en-US" sz="1450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</a:t>
            </a:r>
            <a:r>
              <a:rPr lang="en-US" sz="1450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his motivated the need for AI-driven classification to standardize AE seriousness.</a:t>
            </a:r>
            <a:endParaRPr sz="1450">
              <a:solidFill>
                <a:srgbClr val="2B3541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50">
              <a:solidFill>
                <a:srgbClr val="2B3541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t/>
            </a:r>
            <a:endParaRPr sz="1850">
              <a:solidFill>
                <a:srgbClr val="2B354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7681793" y="5025747"/>
            <a:ext cx="586394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/>
          <p:nvPr/>
        </p:nvSpPr>
        <p:spPr>
          <a:xfrm>
            <a:off x="837724" y="1719739"/>
            <a:ext cx="918341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CatBoost: The Optimal Final Model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0" name="Google Shape;24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724" y="2902506"/>
            <a:ext cx="4318278" cy="957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1"/>
          <p:cNvSpPr/>
          <p:nvPr/>
        </p:nvSpPr>
        <p:spPr>
          <a:xfrm>
            <a:off x="1077039" y="409932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Specialization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1077039" y="4594860"/>
            <a:ext cx="3839647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Chosen for its native ability to handle mixed categorical and text features.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1077039" y="5887522"/>
            <a:ext cx="383964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Source: </a:t>
            </a:r>
            <a:r>
              <a:rPr b="0" i="0" lang="en-US" sz="1850" u="sng" cap="none" strike="noStrike">
                <a:solidFill>
                  <a:schemeClr val="hlink"/>
                </a:solidFill>
                <a:latin typeface="Funnel Sans"/>
                <a:ea typeface="Funnel Sans"/>
                <a:cs typeface="Funnel Sans"/>
                <a:sym typeface="Funnel Sans"/>
                <a:hlinkClick r:id="rId4"/>
              </a:rPr>
              <a:t>arXiv Paper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4" name="Google Shape;24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6002" y="2902506"/>
            <a:ext cx="4318278" cy="957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/>
          <p:nvPr/>
        </p:nvSpPr>
        <p:spPr>
          <a:xfrm>
            <a:off x="5395317" y="409932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Text Encoding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5395317" y="4594860"/>
            <a:ext cx="3839647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Automatic, native embedding of raw symptom text (SYMPTOM_TEXT).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7" name="Google Shape;24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74279" y="2902506"/>
            <a:ext cx="4318278" cy="957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1"/>
          <p:cNvSpPr/>
          <p:nvPr/>
        </p:nvSpPr>
        <p:spPr>
          <a:xfrm>
            <a:off x="9713595" y="4099322"/>
            <a:ext cx="2937629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Overfitting Prevention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1"/>
          <p:cNvSpPr/>
          <p:nvPr/>
        </p:nvSpPr>
        <p:spPr>
          <a:xfrm>
            <a:off x="9713595" y="4594860"/>
            <a:ext cx="3839647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Uses Ordered Boosting to stabilize predictions, crucial for noisy, self-reported data like VAERS.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/>
          <p:nvPr/>
        </p:nvSpPr>
        <p:spPr>
          <a:xfrm>
            <a:off x="833914" y="655201"/>
            <a:ext cx="10813971" cy="700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Final Performance: CatBoost vs. XGBoost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2"/>
          <p:cNvSpPr/>
          <p:nvPr/>
        </p:nvSpPr>
        <p:spPr>
          <a:xfrm>
            <a:off x="833914" y="1451253"/>
            <a:ext cx="6227445" cy="350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PR-AUC Comparison Across All Vaccine Models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7" name="Google Shape;25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914" y="2103116"/>
            <a:ext cx="12298681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2"/>
          <p:cNvSpPr/>
          <p:nvPr/>
        </p:nvSpPr>
        <p:spPr>
          <a:xfrm>
            <a:off x="833914" y="6450211"/>
            <a:ext cx="12962573" cy="1143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CatBoost delivered significant improvements in PR-AUC across all four vaccine models. The focus on PR-AUC as the key evaluation metric demonstrates superior handling of imbalanced data, which is critical in pharmacovigilance where serious adverse events are rare but high-impact.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>
            <a:off x="755213" y="767239"/>
            <a:ext cx="7960519" cy="634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950"/>
              <a:buFont typeface="Funnel Display"/>
              <a:buNone/>
            </a:pPr>
            <a:r>
              <a:rPr b="0" i="0" lang="en-US" sz="39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VaxShield AI System Architecture</a:t>
            </a:r>
            <a:endParaRPr b="0" i="0" sz="3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3"/>
          <p:cNvSpPr/>
          <p:nvPr/>
        </p:nvSpPr>
        <p:spPr>
          <a:xfrm>
            <a:off x="755213" y="1488281"/>
            <a:ext cx="3678198" cy="31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950"/>
              <a:buFont typeface="Funnel Display"/>
              <a:buNone/>
            </a:pPr>
            <a:r>
              <a:rPr b="0" i="0" lang="en-US" sz="19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End-to-End ML Pipeline Design</a:t>
            </a:r>
            <a:endParaRPr b="0" i="0" sz="1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6" name="Google Shape;26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213" y="2129195"/>
            <a:ext cx="6559987" cy="863203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/>
          <p:nvPr/>
        </p:nvSpPr>
        <p:spPr>
          <a:xfrm>
            <a:off x="970955" y="3208139"/>
            <a:ext cx="2538770" cy="31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950"/>
              <a:buFont typeface="Funnel Display"/>
              <a:buNone/>
            </a:pPr>
            <a:r>
              <a:rPr b="0" i="0" lang="en-US" sz="19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Frontend Layer</a:t>
            </a:r>
            <a:endParaRPr b="0" i="0" sz="1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3"/>
          <p:cNvSpPr/>
          <p:nvPr/>
        </p:nvSpPr>
        <p:spPr>
          <a:xfrm>
            <a:off x="970955" y="3654862"/>
            <a:ext cx="6128504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50"/>
              <a:buFont typeface="Funnel Sans"/>
              <a:buNone/>
            </a:pPr>
            <a:r>
              <a:rPr b="0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Interactive Streamlit web application for user input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9" name="Google Shape;26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2129195"/>
            <a:ext cx="6559987" cy="86320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3"/>
          <p:cNvSpPr/>
          <p:nvPr/>
        </p:nvSpPr>
        <p:spPr>
          <a:xfrm>
            <a:off x="7530941" y="3208139"/>
            <a:ext cx="2538770" cy="31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950"/>
              <a:buFont typeface="Funnel Display"/>
              <a:buNone/>
            </a:pPr>
            <a:r>
              <a:rPr b="0" i="0" lang="en-US" sz="19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NLP Processing</a:t>
            </a:r>
            <a:endParaRPr b="0" i="0" sz="1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3"/>
          <p:cNvSpPr/>
          <p:nvPr/>
        </p:nvSpPr>
        <p:spPr>
          <a:xfrm>
            <a:off x="7530941" y="3654862"/>
            <a:ext cx="6128504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50"/>
              <a:buFont typeface="Funnel Sans"/>
              <a:buNone/>
            </a:pPr>
            <a:r>
              <a:rPr b="0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Feature extraction and entity recognition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2" name="Google Shape;27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5213" y="4215884"/>
            <a:ext cx="6559987" cy="86320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3"/>
          <p:cNvSpPr/>
          <p:nvPr/>
        </p:nvSpPr>
        <p:spPr>
          <a:xfrm>
            <a:off x="970955" y="5294828"/>
            <a:ext cx="2538770" cy="31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950"/>
              <a:buFont typeface="Funnel Display"/>
              <a:buNone/>
            </a:pPr>
            <a:r>
              <a:rPr b="0" i="0" lang="en-US" sz="19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Model Selection</a:t>
            </a:r>
            <a:endParaRPr b="0" i="0" sz="1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3"/>
          <p:cNvSpPr/>
          <p:nvPr/>
        </p:nvSpPr>
        <p:spPr>
          <a:xfrm>
            <a:off x="970955" y="5741551"/>
            <a:ext cx="6128504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50"/>
              <a:buFont typeface="Funnel Sans"/>
              <a:buNone/>
            </a:pPr>
            <a:r>
              <a:rPr b="0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Route to appropriate vaccine classifier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5" name="Google Shape;27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0" y="4215884"/>
            <a:ext cx="6559987" cy="863203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3"/>
          <p:cNvSpPr/>
          <p:nvPr/>
        </p:nvSpPr>
        <p:spPr>
          <a:xfrm>
            <a:off x="7530941" y="5294828"/>
            <a:ext cx="2538770" cy="31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950"/>
              <a:buFont typeface="Funnel Display"/>
              <a:buNone/>
            </a:pPr>
            <a:r>
              <a:rPr b="0" i="0" lang="en-US" sz="19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Prediction Output</a:t>
            </a:r>
            <a:endParaRPr b="0" i="0" sz="1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3"/>
          <p:cNvSpPr/>
          <p:nvPr/>
        </p:nvSpPr>
        <p:spPr>
          <a:xfrm>
            <a:off x="7530941" y="5741551"/>
            <a:ext cx="6128504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50"/>
              <a:buFont typeface="Funnel Sans"/>
              <a:buNone/>
            </a:pPr>
            <a:r>
              <a:rPr b="0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Severity score and classification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3"/>
          <p:cNvSpPr/>
          <p:nvPr/>
        </p:nvSpPr>
        <p:spPr>
          <a:xfrm>
            <a:off x="755213" y="6545342"/>
            <a:ext cx="13119973" cy="917019"/>
          </a:xfrm>
          <a:prstGeom prst="roundRect">
            <a:avLst>
              <a:gd fmla="val 9884" name="adj"/>
            </a:avLst>
          </a:prstGeom>
          <a:solidFill>
            <a:srgbClr val="C5DB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9" name="Google Shape;279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0955" y="6877645"/>
            <a:ext cx="269677" cy="21574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3"/>
          <p:cNvSpPr/>
          <p:nvPr/>
        </p:nvSpPr>
        <p:spPr>
          <a:xfrm>
            <a:off x="1456373" y="6815018"/>
            <a:ext cx="12203073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Funnel Sans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Model Layer:</a:t>
            </a:r>
            <a:r>
              <a:rPr b="0" i="0" lang="en-US" sz="16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Four dedicated CatBoost classifiers (.sav format) trained separately for COVID, Flu, PPV and Varzos vaccines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/>
          <p:nvPr/>
        </p:nvSpPr>
        <p:spPr>
          <a:xfrm>
            <a:off x="837724" y="1244679"/>
            <a:ext cx="8498205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Deployment: Streamlit Interface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837724" y="2044422"/>
            <a:ext cx="3954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Real-Time Prediction Platform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4"/>
          <p:cNvSpPr/>
          <p:nvPr/>
        </p:nvSpPr>
        <p:spPr>
          <a:xfrm>
            <a:off x="837724" y="2994660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Key Features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4"/>
          <p:cNvSpPr/>
          <p:nvPr/>
        </p:nvSpPr>
        <p:spPr>
          <a:xfrm>
            <a:off x="837724" y="3585924"/>
            <a:ext cx="753939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Char char="•"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Built using Streamlit framework for rapid deployment and interactive capabilities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4"/>
          <p:cNvSpPr/>
          <p:nvPr/>
        </p:nvSpPr>
        <p:spPr>
          <a:xfrm>
            <a:off x="837724" y="4435673"/>
            <a:ext cx="753939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Char char="•"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Accepts natural language input describing reported adverse events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4"/>
          <p:cNvSpPr/>
          <p:nvPr/>
        </p:nvSpPr>
        <p:spPr>
          <a:xfrm>
            <a:off x="837724" y="5285423"/>
            <a:ext cx="753939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Char char="•"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Provides instantaneous feedback with predicted seriousness scores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4"/>
          <p:cNvSpPr/>
          <p:nvPr/>
        </p:nvSpPr>
        <p:spPr>
          <a:xfrm>
            <a:off x="837724" y="6135172"/>
            <a:ext cx="753939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Char char="•"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User-friendly chat interface designed for healthcare professionals and researchers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8968621" y="2994660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Technology Stack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8968621" y="3585924"/>
            <a:ext cx="4831556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1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Framework: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Streamlit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4"/>
          <p:cNvSpPr/>
          <p:nvPr/>
        </p:nvSpPr>
        <p:spPr>
          <a:xfrm>
            <a:off x="8968621" y="4184332"/>
            <a:ext cx="4831556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1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Deployment: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Web-based application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4"/>
          <p:cNvSpPr/>
          <p:nvPr/>
        </p:nvSpPr>
        <p:spPr>
          <a:xfrm>
            <a:off x="8968621" y="4782741"/>
            <a:ext cx="4831556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1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Response Time: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Real-time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5"/>
          <p:cNvSpPr/>
          <p:nvPr/>
        </p:nvSpPr>
        <p:spPr>
          <a:xfrm>
            <a:off x="812244" y="638175"/>
            <a:ext cx="8362355" cy="68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8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250"/>
              <a:buFont typeface="Funnel Display"/>
              <a:buNone/>
            </a:pPr>
            <a:r>
              <a:rPr b="0" i="0" lang="en-US" sz="42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NLP Deep Dive: Entity Extraction</a:t>
            </a:r>
            <a:endParaRPr b="0" i="0" sz="4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5"/>
          <p:cNvSpPr/>
          <p:nvPr/>
        </p:nvSpPr>
        <p:spPr>
          <a:xfrm>
            <a:off x="812244" y="1413391"/>
            <a:ext cx="6828473" cy="341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Converting Unstructured Text to Structured Features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5"/>
          <p:cNvSpPr/>
          <p:nvPr/>
        </p:nvSpPr>
        <p:spPr>
          <a:xfrm>
            <a:off x="812244" y="2102644"/>
            <a:ext cx="6386870" cy="2630448"/>
          </a:xfrm>
          <a:prstGeom prst="roundRect">
            <a:avLst>
              <a:gd fmla="val 3706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1051917" y="2342317"/>
            <a:ext cx="696158" cy="696158"/>
          </a:xfrm>
          <a:prstGeom prst="roundRect">
            <a:avLst>
              <a:gd fmla="val 13133636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6" name="Google Shape;30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3370" y="2533769"/>
            <a:ext cx="313253" cy="31325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5"/>
          <p:cNvSpPr/>
          <p:nvPr/>
        </p:nvSpPr>
        <p:spPr>
          <a:xfrm>
            <a:off x="1051917" y="3270528"/>
            <a:ext cx="2730222" cy="341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Challenge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5"/>
          <p:cNvSpPr/>
          <p:nvPr/>
        </p:nvSpPr>
        <p:spPr>
          <a:xfrm>
            <a:off x="1051917" y="3750945"/>
            <a:ext cx="5907524" cy="74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Sans"/>
              <a:buNone/>
            </a:pPr>
            <a:r>
              <a:rPr b="0" i="0" lang="en-US" sz="1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User reports contain misspellings, abbreviations, and vague descriptions of symptoms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5"/>
          <p:cNvSpPr/>
          <p:nvPr/>
        </p:nvSpPr>
        <p:spPr>
          <a:xfrm>
            <a:off x="7431167" y="2102644"/>
            <a:ext cx="6386989" cy="2630448"/>
          </a:xfrm>
          <a:prstGeom prst="roundRect">
            <a:avLst>
              <a:gd fmla="val 3706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5"/>
          <p:cNvSpPr/>
          <p:nvPr/>
        </p:nvSpPr>
        <p:spPr>
          <a:xfrm>
            <a:off x="7670840" y="2342317"/>
            <a:ext cx="696158" cy="696158"/>
          </a:xfrm>
          <a:prstGeom prst="roundRect">
            <a:avLst>
              <a:gd fmla="val 13133636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1" name="Google Shape;31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2292" y="2533769"/>
            <a:ext cx="313253" cy="31325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5"/>
          <p:cNvSpPr/>
          <p:nvPr/>
        </p:nvSpPr>
        <p:spPr>
          <a:xfrm>
            <a:off x="7670840" y="3270528"/>
            <a:ext cx="2730222" cy="341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Solution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5"/>
          <p:cNvSpPr/>
          <p:nvPr/>
        </p:nvSpPr>
        <p:spPr>
          <a:xfrm>
            <a:off x="7670840" y="3750945"/>
            <a:ext cx="5907643" cy="74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Sans"/>
              <a:buNone/>
            </a:pPr>
            <a:r>
              <a:rPr b="0" i="0" lang="en-US" sz="1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Fuzzy matching algorithms combined with custom regex patterns for robust extraction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5"/>
          <p:cNvSpPr/>
          <p:nvPr/>
        </p:nvSpPr>
        <p:spPr>
          <a:xfrm>
            <a:off x="812244" y="4965144"/>
            <a:ext cx="6386870" cy="2630448"/>
          </a:xfrm>
          <a:prstGeom prst="roundRect">
            <a:avLst>
              <a:gd fmla="val 3706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5"/>
          <p:cNvSpPr/>
          <p:nvPr/>
        </p:nvSpPr>
        <p:spPr>
          <a:xfrm>
            <a:off x="1051917" y="5204817"/>
            <a:ext cx="696158" cy="696158"/>
          </a:xfrm>
          <a:prstGeom prst="roundRect">
            <a:avLst>
              <a:gd fmla="val 13133636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6" name="Google Shape;316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3370" y="5396270"/>
            <a:ext cx="313253" cy="31325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5"/>
          <p:cNvSpPr/>
          <p:nvPr/>
        </p:nvSpPr>
        <p:spPr>
          <a:xfrm>
            <a:off x="1051917" y="6133028"/>
            <a:ext cx="2730222" cy="341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Extraction Targets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5"/>
          <p:cNvSpPr/>
          <p:nvPr/>
        </p:nvSpPr>
        <p:spPr>
          <a:xfrm>
            <a:off x="1051917" y="6613446"/>
            <a:ext cx="5907524" cy="74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Sans"/>
              <a:buNone/>
            </a:pPr>
            <a:r>
              <a:rPr b="0" i="0" lang="en-US" sz="1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Age, Sex, VAX_TYPE, and Symptom Keywords identified with high accuracy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5"/>
          <p:cNvSpPr/>
          <p:nvPr/>
        </p:nvSpPr>
        <p:spPr>
          <a:xfrm>
            <a:off x="7431167" y="4965144"/>
            <a:ext cx="6386989" cy="2630448"/>
          </a:xfrm>
          <a:prstGeom prst="roundRect">
            <a:avLst>
              <a:gd fmla="val 3706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5"/>
          <p:cNvSpPr/>
          <p:nvPr/>
        </p:nvSpPr>
        <p:spPr>
          <a:xfrm>
            <a:off x="7670840" y="5204817"/>
            <a:ext cx="696158" cy="696158"/>
          </a:xfrm>
          <a:prstGeom prst="roundRect">
            <a:avLst>
              <a:gd fmla="val 13133636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1" name="Google Shape;32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2292" y="5396270"/>
            <a:ext cx="313253" cy="313253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5"/>
          <p:cNvSpPr/>
          <p:nvPr/>
        </p:nvSpPr>
        <p:spPr>
          <a:xfrm>
            <a:off x="7670840" y="6133028"/>
            <a:ext cx="2730222" cy="341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Result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5"/>
          <p:cNvSpPr/>
          <p:nvPr/>
        </p:nvSpPr>
        <p:spPr>
          <a:xfrm>
            <a:off x="7670840" y="6613446"/>
            <a:ext cx="5907643" cy="74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Sans"/>
              <a:buNone/>
            </a:pPr>
            <a:r>
              <a:rPr b="0" i="0" lang="en-US" sz="1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Noisy natural language successfully transformed into structured CatBoost-ready features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/>
          <p:nvPr/>
        </p:nvSpPr>
        <p:spPr>
          <a:xfrm>
            <a:off x="837724" y="1625441"/>
            <a:ext cx="12954952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Prediction Logic: Interpreting Seriousness Scores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6"/>
          <p:cNvSpPr/>
          <p:nvPr/>
        </p:nvSpPr>
        <p:spPr>
          <a:xfrm>
            <a:off x="837724" y="3129201"/>
            <a:ext cx="6703100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From Raw Probability to Actionable Severity Levels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6"/>
          <p:cNvSpPr/>
          <p:nvPr/>
        </p:nvSpPr>
        <p:spPr>
          <a:xfrm>
            <a:off x="837724" y="3840123"/>
            <a:ext cx="239316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Display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6"/>
          <p:cNvSpPr/>
          <p:nvPr/>
        </p:nvSpPr>
        <p:spPr>
          <a:xfrm>
            <a:off x="837724" y="4216479"/>
            <a:ext cx="4158734" cy="30480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6"/>
          <p:cNvSpPr/>
          <p:nvPr/>
        </p:nvSpPr>
        <p:spPr>
          <a:xfrm>
            <a:off x="1077049" y="3787097"/>
            <a:ext cx="2816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Model Output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6"/>
          <p:cNvSpPr/>
          <p:nvPr/>
        </p:nvSpPr>
        <p:spPr>
          <a:xfrm>
            <a:off x="837724" y="4892635"/>
            <a:ext cx="41587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CatBoost returns raw probability P(Serious) ranging from 0.0 to 1.0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6"/>
          <p:cNvSpPr/>
          <p:nvPr/>
        </p:nvSpPr>
        <p:spPr>
          <a:xfrm>
            <a:off x="5235773" y="3840123"/>
            <a:ext cx="239316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Display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6"/>
          <p:cNvSpPr/>
          <p:nvPr/>
        </p:nvSpPr>
        <p:spPr>
          <a:xfrm>
            <a:off x="5235773" y="4216479"/>
            <a:ext cx="4158734" cy="30480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6"/>
          <p:cNvSpPr/>
          <p:nvPr/>
        </p:nvSpPr>
        <p:spPr>
          <a:xfrm>
            <a:off x="5475098" y="3787072"/>
            <a:ext cx="2816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Context Weighting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6"/>
          <p:cNvSpPr/>
          <p:nvPr/>
        </p:nvSpPr>
        <p:spPr>
          <a:xfrm>
            <a:off x="5235773" y="4892635"/>
            <a:ext cx="4158734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Confidence score boosted by explicit mentions of severe outcomes (e.g., +0.15 for "hospitalized", "death", or "life-threatening")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6"/>
          <p:cNvSpPr/>
          <p:nvPr/>
        </p:nvSpPr>
        <p:spPr>
          <a:xfrm>
            <a:off x="9633823" y="3840123"/>
            <a:ext cx="239316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Display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6"/>
          <p:cNvSpPr/>
          <p:nvPr/>
        </p:nvSpPr>
        <p:spPr>
          <a:xfrm>
            <a:off x="9633823" y="4216479"/>
            <a:ext cx="4158853" cy="30480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6"/>
          <p:cNvSpPr/>
          <p:nvPr/>
        </p:nvSpPr>
        <p:spPr>
          <a:xfrm>
            <a:off x="9873148" y="3787072"/>
            <a:ext cx="2901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Severity Classification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6"/>
          <p:cNvSpPr/>
          <p:nvPr/>
        </p:nvSpPr>
        <p:spPr>
          <a:xfrm>
            <a:off x="9633823" y="4892635"/>
            <a:ext cx="415885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Final score mapped to three levels: </a:t>
            </a:r>
            <a:r>
              <a:rPr b="1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Mild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(Score &lt; 0.4), </a:t>
            </a:r>
            <a:r>
              <a:rPr b="1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Moderate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(0.4 ≤ Score &lt; 0.7), </a:t>
            </a:r>
            <a:r>
              <a:rPr b="1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Severe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(Score ≥ 0.7)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7"/>
          <p:cNvSpPr/>
          <p:nvPr/>
        </p:nvSpPr>
        <p:spPr>
          <a:xfrm>
            <a:off x="455057" y="357545"/>
            <a:ext cx="5729049" cy="382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400"/>
              <a:buFont typeface="Funnel Display"/>
              <a:buNone/>
            </a:pPr>
            <a:r>
              <a:rPr b="0" i="0" lang="en-US" sz="2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Demo Case 1: COVID Vaccine Validation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7"/>
          <p:cNvSpPr/>
          <p:nvPr/>
        </p:nvSpPr>
        <p:spPr>
          <a:xfrm>
            <a:off x="455057" y="791885"/>
            <a:ext cx="3425309" cy="191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200"/>
              <a:buFont typeface="Funnel Display"/>
              <a:buNone/>
            </a:pPr>
            <a:r>
              <a:rPr b="0" i="0" lang="en-US" sz="1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Model Validation Chatbot - Real-Time Prediction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0" name="Google Shape;35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900" y="1649475"/>
            <a:ext cx="13333025" cy="531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8"/>
          <p:cNvSpPr/>
          <p:nvPr/>
        </p:nvSpPr>
        <p:spPr>
          <a:xfrm>
            <a:off x="452318" y="355402"/>
            <a:ext cx="5349359" cy="380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350"/>
              <a:buFont typeface="Funnel Display"/>
              <a:buNone/>
            </a:pPr>
            <a:r>
              <a:rPr b="0" i="0" lang="en-US" sz="23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Demo Case 2: PPV Vaccine Validation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8"/>
          <p:cNvSpPr/>
          <p:nvPr/>
        </p:nvSpPr>
        <p:spPr>
          <a:xfrm>
            <a:off x="452318" y="787241"/>
            <a:ext cx="3403878" cy="190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150"/>
              <a:buFont typeface="Funnel Display"/>
              <a:buNone/>
            </a:pPr>
            <a:r>
              <a:rPr b="0" i="0" lang="en-US" sz="11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Model Validation Chatbot - Real-Time Prediction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8" name="Google Shape;35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000" y="1521375"/>
            <a:ext cx="12585750" cy="518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9"/>
          <p:cNvSpPr/>
          <p:nvPr/>
        </p:nvSpPr>
        <p:spPr>
          <a:xfrm>
            <a:off x="837724" y="1151930"/>
            <a:ext cx="10697408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Deployment Transparency: Debug Panel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9"/>
          <p:cNvSpPr/>
          <p:nvPr/>
        </p:nvSpPr>
        <p:spPr>
          <a:xfrm>
            <a:off x="837724" y="1951673"/>
            <a:ext cx="487870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Building Trust Through Explainability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9"/>
          <p:cNvSpPr/>
          <p:nvPr/>
        </p:nvSpPr>
        <p:spPr>
          <a:xfrm>
            <a:off x="837724" y="2901910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Purpose &amp; Benefits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9"/>
          <p:cNvSpPr/>
          <p:nvPr/>
        </p:nvSpPr>
        <p:spPr>
          <a:xfrm>
            <a:off x="837724" y="3493175"/>
            <a:ext cx="618553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Char char="•"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Increases user trust by exposing internal decision-making processes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9"/>
          <p:cNvSpPr/>
          <p:nvPr/>
        </p:nvSpPr>
        <p:spPr>
          <a:xfrm>
            <a:off x="837724" y="4342924"/>
            <a:ext cx="618553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Char char="•"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Aids clinical validation and model debugging during deployment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9"/>
          <p:cNvSpPr/>
          <p:nvPr/>
        </p:nvSpPr>
        <p:spPr>
          <a:xfrm>
            <a:off x="837724" y="5192673"/>
            <a:ext cx="618553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Char char="•"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Provides transparency required for healthcare AI applications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9"/>
          <p:cNvSpPr/>
          <p:nvPr/>
        </p:nvSpPr>
        <p:spPr>
          <a:xfrm>
            <a:off x="7614761" y="2901910"/>
            <a:ext cx="2924413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Debug Panel Features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9"/>
          <p:cNvSpPr/>
          <p:nvPr/>
        </p:nvSpPr>
        <p:spPr>
          <a:xfrm>
            <a:off x="7614761" y="3493175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Char char="•"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Raw probability score from CatBoost model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9"/>
          <p:cNvSpPr/>
          <p:nvPr/>
        </p:nvSpPr>
        <p:spPr>
          <a:xfrm>
            <a:off x="7614761" y="3959900"/>
            <a:ext cx="618553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Char char="•"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Specific vaccine classifier used (COVID/Flu/HPV/MMR)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9"/>
          <p:cNvSpPr/>
          <p:nvPr/>
        </p:nvSpPr>
        <p:spPr>
          <a:xfrm>
            <a:off x="7614761" y="4809649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Char char="•"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Entities extracted by NLP pipeline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9"/>
          <p:cNvSpPr/>
          <p:nvPr/>
        </p:nvSpPr>
        <p:spPr>
          <a:xfrm>
            <a:off x="7614761" y="5276374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Char char="•"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Context weights applied to final score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9"/>
          <p:cNvSpPr/>
          <p:nvPr/>
        </p:nvSpPr>
        <p:spPr>
          <a:xfrm>
            <a:off x="837724" y="6311622"/>
            <a:ext cx="12954952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The sidebar debug panel serves as a critical transparency feature, allowing healthcare professionals to understand and validate the AI's reasoning process.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"/>
          <p:cNvSpPr/>
          <p:nvPr/>
        </p:nvSpPr>
        <p:spPr>
          <a:xfrm>
            <a:off x="801410" y="630674"/>
            <a:ext cx="8538329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200"/>
              <a:buFont typeface="Funnel Display"/>
              <a:buNone/>
            </a:pPr>
            <a:r>
              <a:rPr b="0" i="0" lang="en-US" sz="4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Capstone Achievement Summary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0"/>
          <p:cNvSpPr/>
          <p:nvPr/>
        </p:nvSpPr>
        <p:spPr>
          <a:xfrm>
            <a:off x="801410" y="1395651"/>
            <a:ext cx="4518303" cy="336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Model Performance &amp; Methodology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0"/>
          <p:cNvSpPr/>
          <p:nvPr/>
        </p:nvSpPr>
        <p:spPr>
          <a:xfrm>
            <a:off x="801410" y="2075736"/>
            <a:ext cx="6399252" cy="2045851"/>
          </a:xfrm>
          <a:prstGeom prst="roundRect">
            <a:avLst>
              <a:gd fmla="val 4701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0"/>
          <p:cNvSpPr/>
          <p:nvPr/>
        </p:nvSpPr>
        <p:spPr>
          <a:xfrm>
            <a:off x="1037987" y="2312313"/>
            <a:ext cx="2693908" cy="336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Model Performance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0"/>
          <p:cNvSpPr/>
          <p:nvPr/>
        </p:nvSpPr>
        <p:spPr>
          <a:xfrm>
            <a:off x="1037987" y="2786301"/>
            <a:ext cx="5926098" cy="1098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Sans"/>
              <a:buNone/>
            </a:pPr>
            <a:r>
              <a:rPr b="0" i="0" lang="en-US" sz="1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Successfully implemented CatBoost achieving high PR-AUC scores (up to 0.96) with significantly improved Recall for imbalanced classification tasks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0"/>
          <p:cNvSpPr/>
          <p:nvPr/>
        </p:nvSpPr>
        <p:spPr>
          <a:xfrm>
            <a:off x="7429619" y="2075736"/>
            <a:ext cx="6399371" cy="2045851"/>
          </a:xfrm>
          <a:prstGeom prst="roundRect">
            <a:avLst>
              <a:gd fmla="val 4701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0"/>
          <p:cNvSpPr/>
          <p:nvPr/>
        </p:nvSpPr>
        <p:spPr>
          <a:xfrm>
            <a:off x="7666196" y="2312313"/>
            <a:ext cx="2693908" cy="336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Robust Methodology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0"/>
          <p:cNvSpPr/>
          <p:nvPr/>
        </p:nvSpPr>
        <p:spPr>
          <a:xfrm>
            <a:off x="7666196" y="2786301"/>
            <a:ext cx="5926217" cy="1098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Sans"/>
              <a:buNone/>
            </a:pPr>
            <a:r>
              <a:rPr b="0" i="0" lang="en-US" sz="1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Developed end-to-end pipeline for handling mixed categorical and unstructured text data in pharmacovigilance applications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0"/>
          <p:cNvSpPr/>
          <p:nvPr/>
        </p:nvSpPr>
        <p:spPr>
          <a:xfrm>
            <a:off x="801410" y="4493516"/>
            <a:ext cx="13027581" cy="36195"/>
          </a:xfrm>
          <a:prstGeom prst="rect">
            <a:avLst/>
          </a:prstGeom>
          <a:solidFill>
            <a:srgbClr val="2B3541">
              <a:alpha val="4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0"/>
          <p:cNvSpPr/>
          <p:nvPr/>
        </p:nvSpPr>
        <p:spPr>
          <a:xfrm>
            <a:off x="801410" y="4872990"/>
            <a:ext cx="3257431" cy="336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Deployment &amp; Data Utility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0"/>
          <p:cNvSpPr/>
          <p:nvPr/>
        </p:nvSpPr>
        <p:spPr>
          <a:xfrm>
            <a:off x="801410" y="5553075"/>
            <a:ext cx="6399252" cy="2045851"/>
          </a:xfrm>
          <a:prstGeom prst="roundRect">
            <a:avLst>
              <a:gd fmla="val 4701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0"/>
          <p:cNvSpPr/>
          <p:nvPr/>
        </p:nvSpPr>
        <p:spPr>
          <a:xfrm>
            <a:off x="1037987" y="5789652"/>
            <a:ext cx="3030379" cy="336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Production Deployment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0"/>
          <p:cNvSpPr/>
          <p:nvPr/>
        </p:nvSpPr>
        <p:spPr>
          <a:xfrm>
            <a:off x="1037987" y="6263640"/>
            <a:ext cx="5926098" cy="1098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Sans"/>
              <a:buNone/>
            </a:pPr>
            <a:r>
              <a:rPr b="0" i="0" lang="en-US" sz="1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Created functional, real-time interactive Streamlit application translating complex ML outputs into actionable severity levels for clinical use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0"/>
          <p:cNvSpPr/>
          <p:nvPr/>
        </p:nvSpPr>
        <p:spPr>
          <a:xfrm>
            <a:off x="7429619" y="5553075"/>
            <a:ext cx="6399371" cy="2045851"/>
          </a:xfrm>
          <a:prstGeom prst="roundRect">
            <a:avLst>
              <a:gd fmla="val 4701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0"/>
          <p:cNvSpPr/>
          <p:nvPr/>
        </p:nvSpPr>
        <p:spPr>
          <a:xfrm>
            <a:off x="7666196" y="5789652"/>
            <a:ext cx="2716530" cy="336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Data Utility Validation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0"/>
          <p:cNvSpPr/>
          <p:nvPr/>
        </p:nvSpPr>
        <p:spPr>
          <a:xfrm>
            <a:off x="7666196" y="6263640"/>
            <a:ext cx="5926217" cy="1098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Sans"/>
              <a:buNone/>
            </a:pPr>
            <a:r>
              <a:rPr b="0" i="0" lang="en-US" sz="1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Demonstrated practical utility of VAERS data for automated safety signal detection and adverse event monitoring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1"/>
          <p:cNvSpPr/>
          <p:nvPr/>
        </p:nvSpPr>
        <p:spPr>
          <a:xfrm>
            <a:off x="837724" y="224718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Deployment Success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1"/>
          <p:cNvSpPr/>
          <p:nvPr/>
        </p:nvSpPr>
        <p:spPr>
          <a:xfrm>
            <a:off x="837724" y="3077885"/>
            <a:ext cx="4158734" cy="2904530"/>
          </a:xfrm>
          <a:prstGeom prst="roundRect">
            <a:avLst>
              <a:gd fmla="val 3461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1"/>
          <p:cNvSpPr/>
          <p:nvPr/>
        </p:nvSpPr>
        <p:spPr>
          <a:xfrm>
            <a:off x="1084659" y="3324820"/>
            <a:ext cx="3083004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Real-Time Functionality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1"/>
          <p:cNvSpPr/>
          <p:nvPr/>
        </p:nvSpPr>
        <p:spPr>
          <a:xfrm>
            <a:off x="1084659" y="3820358"/>
            <a:ext cx="3664863" cy="1915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Created a fully functional, interactive Streamlit application that operates in real-time, enabling immediate analysis of vaccine adverse event reports.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1"/>
          <p:cNvSpPr/>
          <p:nvPr/>
        </p:nvSpPr>
        <p:spPr>
          <a:xfrm>
            <a:off x="5235773" y="3077885"/>
            <a:ext cx="4158734" cy="2904530"/>
          </a:xfrm>
          <a:prstGeom prst="roundRect">
            <a:avLst>
              <a:gd fmla="val 3461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1"/>
          <p:cNvSpPr/>
          <p:nvPr/>
        </p:nvSpPr>
        <p:spPr>
          <a:xfrm>
            <a:off x="5482709" y="3324820"/>
            <a:ext cx="3026688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Actionable Intelligence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1"/>
          <p:cNvSpPr/>
          <p:nvPr/>
        </p:nvSpPr>
        <p:spPr>
          <a:xfrm>
            <a:off x="5482709" y="3820358"/>
            <a:ext cx="3664863" cy="1915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Successfully translated complex ML predictions into clear, interpretable severity levels that healthcare professionals can act upon immediately.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1"/>
          <p:cNvSpPr/>
          <p:nvPr/>
        </p:nvSpPr>
        <p:spPr>
          <a:xfrm>
            <a:off x="9633823" y="3077885"/>
            <a:ext cx="4158853" cy="2904530"/>
          </a:xfrm>
          <a:prstGeom prst="roundRect">
            <a:avLst>
              <a:gd fmla="val 3461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1"/>
          <p:cNvSpPr/>
          <p:nvPr/>
        </p:nvSpPr>
        <p:spPr>
          <a:xfrm>
            <a:off x="9880759" y="3324820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VAERS Integration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1"/>
          <p:cNvSpPr/>
          <p:nvPr/>
        </p:nvSpPr>
        <p:spPr>
          <a:xfrm>
            <a:off x="9880759" y="3820358"/>
            <a:ext cx="3664982" cy="1915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Demonstrated the practical utility of VAERS data for automated safety signal detection, proving the viability of AI-driven pharmacovigilance systems.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2"/>
          <p:cNvSpPr/>
          <p:nvPr/>
        </p:nvSpPr>
        <p:spPr>
          <a:xfrm>
            <a:off x="837724" y="1489234"/>
            <a:ext cx="9310092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Responsible AI Use and Limitations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2"/>
          <p:cNvSpPr/>
          <p:nvPr/>
        </p:nvSpPr>
        <p:spPr>
          <a:xfrm>
            <a:off x="837724" y="2672001"/>
            <a:ext cx="4158734" cy="4068247"/>
          </a:xfrm>
          <a:prstGeom prst="roundRect">
            <a:avLst>
              <a:gd fmla="val 3596" name="adj"/>
            </a:avLst>
          </a:prstGeom>
          <a:solidFill>
            <a:srgbClr val="FAF5EB"/>
          </a:solidFill>
          <a:ln cap="flat" cmpd="sng" w="3047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2"/>
          <p:cNvSpPr/>
          <p:nvPr/>
        </p:nvSpPr>
        <p:spPr>
          <a:xfrm>
            <a:off x="807244" y="2672001"/>
            <a:ext cx="121920" cy="4068247"/>
          </a:xfrm>
          <a:prstGeom prst="roundRect">
            <a:avLst>
              <a:gd fmla="val 82464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2"/>
          <p:cNvSpPr/>
          <p:nvPr/>
        </p:nvSpPr>
        <p:spPr>
          <a:xfrm>
            <a:off x="1198959" y="2941796"/>
            <a:ext cx="3312438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Correlation vs. Causation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2"/>
          <p:cNvSpPr/>
          <p:nvPr/>
        </p:nvSpPr>
        <p:spPr>
          <a:xfrm>
            <a:off x="1198959" y="3437334"/>
            <a:ext cx="3527703" cy="268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The model predicts the </a:t>
            </a:r>
            <a:r>
              <a:rPr b="0" i="1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likelihood of seriousness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based on patterns in data, not direct causal relationships between vaccines and adverse events. Clinical judgment remains essential.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2"/>
          <p:cNvSpPr/>
          <p:nvPr/>
        </p:nvSpPr>
        <p:spPr>
          <a:xfrm>
            <a:off x="5235773" y="2672001"/>
            <a:ext cx="4158734" cy="4068247"/>
          </a:xfrm>
          <a:prstGeom prst="roundRect">
            <a:avLst>
              <a:gd fmla="val 3596" name="adj"/>
            </a:avLst>
          </a:prstGeom>
          <a:solidFill>
            <a:srgbClr val="FAF5EB"/>
          </a:solidFill>
          <a:ln cap="flat" cmpd="sng" w="3047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2"/>
          <p:cNvSpPr/>
          <p:nvPr/>
        </p:nvSpPr>
        <p:spPr>
          <a:xfrm>
            <a:off x="5205293" y="2672001"/>
            <a:ext cx="121920" cy="4068247"/>
          </a:xfrm>
          <a:prstGeom prst="roundRect">
            <a:avLst>
              <a:gd fmla="val 82464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2"/>
          <p:cNvSpPr/>
          <p:nvPr/>
        </p:nvSpPr>
        <p:spPr>
          <a:xfrm>
            <a:off x="5597009" y="2941796"/>
            <a:ext cx="2840950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Research-Only Scope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2"/>
          <p:cNvSpPr/>
          <p:nvPr/>
        </p:nvSpPr>
        <p:spPr>
          <a:xfrm>
            <a:off x="5597009" y="3437334"/>
            <a:ext cx="3527703" cy="2298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Designed strictly for research and educational purposes. This tool is </a:t>
            </a:r>
            <a:r>
              <a:rPr b="1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not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a substitute for professional medical diagnosis, treatment decisions, or regulatory review.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2"/>
          <p:cNvSpPr/>
          <p:nvPr/>
        </p:nvSpPr>
        <p:spPr>
          <a:xfrm>
            <a:off x="9633823" y="2672001"/>
            <a:ext cx="4158853" cy="4068247"/>
          </a:xfrm>
          <a:prstGeom prst="roundRect">
            <a:avLst>
              <a:gd fmla="val 3596" name="adj"/>
            </a:avLst>
          </a:prstGeom>
          <a:solidFill>
            <a:srgbClr val="FAF5EB"/>
          </a:solidFill>
          <a:ln cap="flat" cmpd="sng" w="3047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2"/>
          <p:cNvSpPr/>
          <p:nvPr/>
        </p:nvSpPr>
        <p:spPr>
          <a:xfrm>
            <a:off x="9603343" y="2672001"/>
            <a:ext cx="121920" cy="4068247"/>
          </a:xfrm>
          <a:prstGeom prst="roundRect">
            <a:avLst>
              <a:gd fmla="val 82464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2"/>
          <p:cNvSpPr/>
          <p:nvPr/>
        </p:nvSpPr>
        <p:spPr>
          <a:xfrm>
            <a:off x="9995059" y="2941796"/>
            <a:ext cx="3527822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Data Imbalance Challenges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2"/>
          <p:cNvSpPr/>
          <p:nvPr/>
        </p:nvSpPr>
        <p:spPr>
          <a:xfrm>
            <a:off x="9995059" y="3789283"/>
            <a:ext cx="3527822" cy="268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Despite significant improvements through class weighting and ensemble methods, Recall optimization remains an ongoing area for enhancement in minority class detection.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3"/>
          <p:cNvSpPr/>
          <p:nvPr/>
        </p:nvSpPr>
        <p:spPr>
          <a:xfrm>
            <a:off x="726758" y="718185"/>
            <a:ext cx="7603808" cy="610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800"/>
              <a:buFont typeface="Funnel Display"/>
              <a:buNone/>
            </a:pPr>
            <a:r>
              <a:rPr b="0" i="0" lang="en-US" sz="38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Future Scope: Model Refinement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3"/>
          <p:cNvSpPr/>
          <p:nvPr/>
        </p:nvSpPr>
        <p:spPr>
          <a:xfrm>
            <a:off x="726758" y="1848088"/>
            <a:ext cx="3259693" cy="366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300"/>
              <a:buFont typeface="Funnel Display"/>
              <a:buNone/>
            </a:pPr>
            <a:r>
              <a:rPr b="0" i="0" lang="en-US" sz="23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Optimization Strategies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3"/>
          <p:cNvSpPr/>
          <p:nvPr/>
        </p:nvSpPr>
        <p:spPr>
          <a:xfrm>
            <a:off x="726758" y="2448044"/>
            <a:ext cx="207645" cy="259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00"/>
              <a:buFont typeface="Funnel Display"/>
              <a:buNone/>
            </a:pPr>
            <a:r>
              <a:rPr b="0" i="0" lang="en-US" sz="16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3"/>
          <p:cNvSpPr/>
          <p:nvPr/>
        </p:nvSpPr>
        <p:spPr>
          <a:xfrm>
            <a:off x="726758" y="2778085"/>
            <a:ext cx="3747849" cy="22860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3"/>
          <p:cNvSpPr/>
          <p:nvPr/>
        </p:nvSpPr>
        <p:spPr>
          <a:xfrm>
            <a:off x="865596" y="2425128"/>
            <a:ext cx="3704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900"/>
              <a:buFont typeface="Funnel Display"/>
              <a:buNone/>
            </a:pPr>
            <a:r>
              <a:rPr b="0" i="0" lang="en-US" sz="1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Advanced Imbalance Correction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3"/>
          <p:cNvSpPr/>
          <p:nvPr/>
        </p:nvSpPr>
        <p:spPr>
          <a:xfrm>
            <a:off x="726733" y="3174331"/>
            <a:ext cx="3747900" cy="16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Apply SMOTE (Synthetic Minority Over-sampling Technique) to generate synthetic samples of serious adverse events, significantly improving Recall scores for minority classes.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3"/>
          <p:cNvSpPr/>
          <p:nvPr/>
        </p:nvSpPr>
        <p:spPr>
          <a:xfrm>
            <a:off x="4682252" y="2448044"/>
            <a:ext cx="207645" cy="259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00"/>
              <a:buFont typeface="Funnel Display"/>
              <a:buNone/>
            </a:pPr>
            <a:r>
              <a:rPr lang="en-US" sz="1600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3"/>
          <p:cNvSpPr/>
          <p:nvPr/>
        </p:nvSpPr>
        <p:spPr>
          <a:xfrm>
            <a:off x="4682252" y="2778085"/>
            <a:ext cx="3747968" cy="22860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3"/>
          <p:cNvSpPr/>
          <p:nvPr/>
        </p:nvSpPr>
        <p:spPr>
          <a:xfrm>
            <a:off x="4889902" y="2425116"/>
            <a:ext cx="27303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900"/>
              <a:buFont typeface="Funnel Display"/>
              <a:buNone/>
            </a:pPr>
            <a:r>
              <a:rPr b="0" i="0" lang="en-US" sz="1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Enhanced Explainability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3"/>
          <p:cNvSpPr/>
          <p:nvPr/>
        </p:nvSpPr>
        <p:spPr>
          <a:xfrm>
            <a:off x="4682289" y="3174318"/>
            <a:ext cx="3747900" cy="16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Integrate SHAP (SHapley Additive exPlanations) values to provide local model interpretability, showing exactly which features drive individual predictions.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3"/>
          <p:cNvSpPr/>
          <p:nvPr/>
        </p:nvSpPr>
        <p:spPr>
          <a:xfrm>
            <a:off x="726758" y="5795010"/>
            <a:ext cx="7703463" cy="22860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3"/>
          <p:cNvSpPr/>
          <p:nvPr/>
        </p:nvSpPr>
        <p:spPr>
          <a:xfrm>
            <a:off x="704983" y="6127553"/>
            <a:ext cx="24429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900"/>
              <a:buFont typeface="Funnel Display"/>
              <a:buNone/>
            </a:pPr>
            <a:r>
              <a:rPr b="0" i="0" lang="en-US" sz="1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Feature Engineering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3"/>
          <p:cNvSpPr/>
          <p:nvPr/>
        </p:nvSpPr>
        <p:spPr>
          <a:xfrm>
            <a:off x="726796" y="6567943"/>
            <a:ext cx="77034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Expand feature sets to include temporal patterns, demographic interactions, and multi-vaccine exposure sequences for more nuanced predictions.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3"/>
          <p:cNvSpPr/>
          <p:nvPr/>
        </p:nvSpPr>
        <p:spPr>
          <a:xfrm>
            <a:off x="8944332" y="1874044"/>
            <a:ext cx="4966811" cy="2391966"/>
          </a:xfrm>
          <a:prstGeom prst="roundRect">
            <a:avLst>
              <a:gd fmla="val 3646" name="adj"/>
            </a:avLst>
          </a:prstGeom>
          <a:solidFill>
            <a:srgbClr val="C5DB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9" name="Google Shape;44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51977" y="2163723"/>
            <a:ext cx="305276" cy="244197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3"/>
          <p:cNvSpPr/>
          <p:nvPr/>
        </p:nvSpPr>
        <p:spPr>
          <a:xfrm>
            <a:off x="9664898" y="2133600"/>
            <a:ext cx="2442924" cy="305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Funnel Display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Expected Impact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3"/>
          <p:cNvSpPr/>
          <p:nvPr/>
        </p:nvSpPr>
        <p:spPr>
          <a:xfrm>
            <a:off x="9664898" y="2646640"/>
            <a:ext cx="4038600" cy="1328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These optimizations could improve Recall by 15-20% while maintaining high Precision, creating a more balanced and clinically useful model.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4"/>
          <p:cNvSpPr/>
          <p:nvPr/>
        </p:nvSpPr>
        <p:spPr>
          <a:xfrm>
            <a:off x="837724" y="913090"/>
            <a:ext cx="9050179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Future Scope: Platform Expansion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8" name="Google Shape;45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724" y="2095857"/>
            <a:ext cx="1196816" cy="1740218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4"/>
          <p:cNvSpPr/>
          <p:nvPr/>
        </p:nvSpPr>
        <p:spPr>
          <a:xfrm>
            <a:off x="2273856" y="2335173"/>
            <a:ext cx="3118247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Multi-Vaccine Coverage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4"/>
          <p:cNvSpPr/>
          <p:nvPr/>
        </p:nvSpPr>
        <p:spPr>
          <a:xfrm>
            <a:off x="2273856" y="2830711"/>
            <a:ext cx="11518821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Expand model portfolio to include HPV, MMR, Hepatitis, and other routine vaccines, creating a comprehensive safety monitoring ecosystem across the entire vaccination schedule.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1" name="Google Shape;46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724" y="3836075"/>
            <a:ext cx="1196816" cy="1740218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4"/>
          <p:cNvSpPr/>
          <p:nvPr/>
        </p:nvSpPr>
        <p:spPr>
          <a:xfrm>
            <a:off x="2273856" y="4075390"/>
            <a:ext cx="3082528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Continuous Monitoring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4"/>
          <p:cNvSpPr/>
          <p:nvPr/>
        </p:nvSpPr>
        <p:spPr>
          <a:xfrm>
            <a:off x="2273856" y="4570928"/>
            <a:ext cx="11518821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Integrate live VAERS API feeds for automated data ingestion and continuous model retraining, ensuring predictions remain current with emerging safety signals.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4" name="Google Shape;464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724" y="5576292"/>
            <a:ext cx="1196816" cy="1740218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4"/>
          <p:cNvSpPr/>
          <p:nvPr/>
        </p:nvSpPr>
        <p:spPr>
          <a:xfrm>
            <a:off x="2273856" y="5815608"/>
            <a:ext cx="303847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Deployment Scalability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4"/>
          <p:cNvSpPr/>
          <p:nvPr/>
        </p:nvSpPr>
        <p:spPr>
          <a:xfrm>
            <a:off x="2273856" y="6311146"/>
            <a:ext cx="11518821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Explore alternative platforms like Gradio or cloud-native solutions for enhanced accessibility, including potential mobile deployment for field use by healthcare providers.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5"/>
          <p:cNvSpPr/>
          <p:nvPr/>
        </p:nvSpPr>
        <p:spPr>
          <a:xfrm>
            <a:off x="837724" y="1784985"/>
            <a:ext cx="7961352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References: Data &amp; Standards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45"/>
          <p:cNvSpPr/>
          <p:nvPr/>
        </p:nvSpPr>
        <p:spPr>
          <a:xfrm>
            <a:off x="837724" y="2967752"/>
            <a:ext cx="4158734" cy="3476863"/>
          </a:xfrm>
          <a:prstGeom prst="roundRect">
            <a:avLst>
              <a:gd fmla="val 2892" name="adj"/>
            </a:avLst>
          </a:prstGeom>
          <a:solidFill>
            <a:srgbClr val="FAF5EB"/>
          </a:solidFill>
          <a:ln cap="flat" cmpd="sng" w="3047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5"/>
          <p:cNvSpPr/>
          <p:nvPr/>
        </p:nvSpPr>
        <p:spPr>
          <a:xfrm>
            <a:off x="1107519" y="323754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VAERS Database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5"/>
          <p:cNvSpPr/>
          <p:nvPr/>
        </p:nvSpPr>
        <p:spPr>
          <a:xfrm>
            <a:off x="1107519" y="3733086"/>
            <a:ext cx="361914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Primary data source for vaccine adverse event reports and safety signal detection analysis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45"/>
          <p:cNvSpPr/>
          <p:nvPr/>
        </p:nvSpPr>
        <p:spPr>
          <a:xfrm>
            <a:off x="1107519" y="5025747"/>
            <a:ext cx="361914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E5099"/>
              </a:buClr>
              <a:buSzPts val="1850"/>
              <a:buFont typeface="Funnel Sans"/>
              <a:buNone/>
            </a:pPr>
            <a:r>
              <a:rPr b="0" i="0" lang="en-US" sz="1850" u="sng" cap="none" strike="noStrike">
                <a:solidFill>
                  <a:schemeClr val="hlink"/>
                </a:solidFill>
                <a:latin typeface="Funnel Sans"/>
                <a:ea typeface="Funnel Sans"/>
                <a:cs typeface="Funnel Sans"/>
                <a:sym typeface="Funnel Sans"/>
                <a:hlinkClick r:id="rId3"/>
              </a:rPr>
              <a:t>https://vaers.hhs.gov/data/datasets.html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5"/>
          <p:cNvSpPr/>
          <p:nvPr/>
        </p:nvSpPr>
        <p:spPr>
          <a:xfrm>
            <a:off x="5235773" y="2967752"/>
            <a:ext cx="4158734" cy="3476863"/>
          </a:xfrm>
          <a:prstGeom prst="roundRect">
            <a:avLst>
              <a:gd fmla="val 2892" name="adj"/>
            </a:avLst>
          </a:prstGeom>
          <a:solidFill>
            <a:srgbClr val="FAF5EB"/>
          </a:solidFill>
          <a:ln cap="flat" cmpd="sng" w="3047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5"/>
          <p:cNvSpPr/>
          <p:nvPr/>
        </p:nvSpPr>
        <p:spPr>
          <a:xfrm>
            <a:off x="5505569" y="323754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MedDRA IME Criteria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5"/>
          <p:cNvSpPr/>
          <p:nvPr/>
        </p:nvSpPr>
        <p:spPr>
          <a:xfrm>
            <a:off x="5505569" y="3733086"/>
            <a:ext cx="361914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Standardized terminology for Important Medical Events used in severity classification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45"/>
          <p:cNvSpPr/>
          <p:nvPr/>
        </p:nvSpPr>
        <p:spPr>
          <a:xfrm>
            <a:off x="5505569" y="5025747"/>
            <a:ext cx="361914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E5099"/>
              </a:buClr>
              <a:buSzPts val="1850"/>
              <a:buFont typeface="Funnel Sans"/>
              <a:buNone/>
            </a:pPr>
            <a:r>
              <a:rPr b="0" i="0" lang="en-US" sz="1850" u="sng" cap="none" strike="noStrike">
                <a:solidFill>
                  <a:schemeClr val="hlink"/>
                </a:solidFill>
                <a:latin typeface="Funnel Sans"/>
                <a:ea typeface="Funnel Sans"/>
                <a:cs typeface="Funnel Sans"/>
                <a:sym typeface="Funnel Sans"/>
                <a:hlinkClick r:id="rId4"/>
              </a:rPr>
              <a:t>EMA IME List Documentation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45"/>
          <p:cNvSpPr/>
          <p:nvPr/>
        </p:nvSpPr>
        <p:spPr>
          <a:xfrm>
            <a:off x="9633823" y="2967752"/>
            <a:ext cx="4158853" cy="3476863"/>
          </a:xfrm>
          <a:prstGeom prst="roundRect">
            <a:avLst>
              <a:gd fmla="val 2892" name="adj"/>
            </a:avLst>
          </a:prstGeom>
          <a:solidFill>
            <a:srgbClr val="FAF5EB"/>
          </a:solidFill>
          <a:ln cap="flat" cmpd="sng" w="3047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5"/>
          <p:cNvSpPr/>
          <p:nvPr/>
        </p:nvSpPr>
        <p:spPr>
          <a:xfrm>
            <a:off x="9903619" y="323754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CDC Vaccine Safety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5"/>
          <p:cNvSpPr/>
          <p:nvPr/>
        </p:nvSpPr>
        <p:spPr>
          <a:xfrm>
            <a:off x="9903619" y="3733086"/>
            <a:ext cx="3619262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Comprehensive overview of COVID-19 vaccine safety monitoring systems and protocols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5"/>
          <p:cNvSpPr/>
          <p:nvPr/>
        </p:nvSpPr>
        <p:spPr>
          <a:xfrm>
            <a:off x="9903619" y="5408771"/>
            <a:ext cx="3619262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https://www.cdc.gov/vaccine-safety/vaccines/covid-19.html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6"/>
          <p:cNvSpPr/>
          <p:nvPr/>
        </p:nvSpPr>
        <p:spPr>
          <a:xfrm>
            <a:off x="837724" y="1427321"/>
            <a:ext cx="9390817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References: Algorithms &amp; Research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6"/>
          <p:cNvSpPr/>
          <p:nvPr/>
        </p:nvSpPr>
        <p:spPr>
          <a:xfrm>
            <a:off x="837724" y="2729627"/>
            <a:ext cx="4540925" cy="422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650"/>
              <a:buFont typeface="Funnel Display"/>
              <a:buNone/>
            </a:pPr>
            <a:r>
              <a:rPr b="0" i="0" lang="en-US" sz="26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Methodological Foundations</a:t>
            </a:r>
            <a:endParaRPr b="0" i="0" sz="2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46"/>
          <p:cNvSpPr/>
          <p:nvPr/>
        </p:nvSpPr>
        <p:spPr>
          <a:xfrm>
            <a:off x="837724" y="3391257"/>
            <a:ext cx="618553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1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CatBoost Algorithm: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Ordered boosting methodology for gradient boosting with categorical features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6"/>
          <p:cNvSpPr/>
          <p:nvPr/>
        </p:nvSpPr>
        <p:spPr>
          <a:xfrm>
            <a:off x="837724" y="4241006"/>
            <a:ext cx="6185535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1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ML in Pharmacovigilance: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Application of machine learning techniques to post-market drug safety surveillance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6"/>
          <p:cNvSpPr/>
          <p:nvPr/>
        </p:nvSpPr>
        <p:spPr>
          <a:xfrm>
            <a:off x="837724" y="5605462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E5099"/>
              </a:buClr>
              <a:buSzPts val="1850"/>
              <a:buFont typeface="Funnel Sans"/>
              <a:buNone/>
            </a:pPr>
            <a:r>
              <a:rPr b="0" i="0" lang="en-US" sz="1850" u="sng" cap="none" strike="noStrike">
                <a:solidFill>
                  <a:schemeClr val="hlink"/>
                </a:solidFill>
                <a:latin typeface="Funnel Sans"/>
                <a:ea typeface="Funnel Sans"/>
                <a:cs typeface="Funnel Sans"/>
                <a:sym typeface="Funnel Sans"/>
                <a:hlinkClick r:id="rId3"/>
              </a:rPr>
              <a:t>CatBoost: Ordered Boosting Paper (2017)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/>
          <p:nvPr/>
        </p:nvSpPr>
        <p:spPr>
          <a:xfrm>
            <a:off x="837724" y="6203871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E5099"/>
              </a:buClr>
              <a:buSzPts val="1850"/>
              <a:buFont typeface="Funnel Sans"/>
              <a:buNone/>
            </a:pPr>
            <a:r>
              <a:rPr b="0" i="0" lang="en-US" sz="1850" u="sng" cap="none" strike="noStrike">
                <a:solidFill>
                  <a:schemeClr val="hlink"/>
                </a:solidFill>
                <a:latin typeface="Funnel Sans"/>
                <a:ea typeface="Funnel Sans"/>
                <a:cs typeface="Funnel Sans"/>
                <a:sym typeface="Funnel Sans"/>
                <a:hlinkClick r:id="rId4"/>
              </a:rPr>
              <a:t>Machine Learning in Pharmacovigilance (PMC)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6"/>
          <p:cNvSpPr/>
          <p:nvPr/>
        </p:nvSpPr>
        <p:spPr>
          <a:xfrm>
            <a:off x="7614761" y="2729627"/>
            <a:ext cx="3379470" cy="422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650"/>
              <a:buFont typeface="Funnel Display"/>
              <a:buNone/>
            </a:pPr>
            <a:r>
              <a:rPr b="0" i="0" lang="en-US" sz="26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Domain Context</a:t>
            </a:r>
            <a:endParaRPr b="0" i="0" sz="2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6"/>
          <p:cNvSpPr/>
          <p:nvPr/>
        </p:nvSpPr>
        <p:spPr>
          <a:xfrm>
            <a:off x="7614761" y="3391257"/>
            <a:ext cx="618553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1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Vaccine Safety History: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Historical context on vaccine side effects and adverse event monitoring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6"/>
          <p:cNvSpPr/>
          <p:nvPr/>
        </p:nvSpPr>
        <p:spPr>
          <a:xfrm>
            <a:off x="7614761" y="4241006"/>
            <a:ext cx="618553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1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Recent Research: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Contemporary studies on COVID-19 vaccine safety surveillance methodologies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6"/>
          <p:cNvSpPr/>
          <p:nvPr/>
        </p:nvSpPr>
        <p:spPr>
          <a:xfrm>
            <a:off x="7614761" y="5222438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E5099"/>
              </a:buClr>
              <a:buSzPts val="1850"/>
              <a:buFont typeface="Funnel Sans"/>
              <a:buNone/>
            </a:pPr>
            <a:r>
              <a:rPr b="0" i="0" lang="en-US" sz="1850" u="sng" cap="none" strike="noStrike">
                <a:solidFill>
                  <a:schemeClr val="hlink"/>
                </a:solidFill>
                <a:latin typeface="Funnel Sans"/>
                <a:ea typeface="Funnel Sans"/>
                <a:cs typeface="Funnel Sans"/>
                <a:sym typeface="Funnel Sans"/>
                <a:hlinkClick r:id="rId5"/>
              </a:rPr>
              <a:t>History of Vaccines - Side Effects FAQ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6"/>
          <p:cNvSpPr/>
          <p:nvPr/>
        </p:nvSpPr>
        <p:spPr>
          <a:xfrm>
            <a:off x="7614761" y="5820847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Scientific Reports (2022) - Nature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7"/>
          <p:cNvSpPr/>
          <p:nvPr/>
        </p:nvSpPr>
        <p:spPr>
          <a:xfrm>
            <a:off x="837724" y="2691646"/>
            <a:ext cx="11264979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58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8850"/>
              <a:buFont typeface="Funnel Display"/>
              <a:buNone/>
            </a:pPr>
            <a:r>
              <a:rPr b="0" i="0" lang="en-US" sz="8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Thank You</a:t>
            </a:r>
            <a:endParaRPr b="0" i="0" sz="8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7"/>
          <p:cNvSpPr/>
          <p:nvPr/>
        </p:nvSpPr>
        <p:spPr>
          <a:xfrm>
            <a:off x="837724" y="4458653"/>
            <a:ext cx="11891843" cy="563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Funnel Display"/>
              <a:buNone/>
            </a:pPr>
            <a:r>
              <a:rPr b="0" i="0" lang="en-US" sz="3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VaxShield AI — Empowering Data-Driven Vaccine Safety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7"/>
          <p:cNvSpPr/>
          <p:nvPr/>
        </p:nvSpPr>
        <p:spPr>
          <a:xfrm>
            <a:off x="837724" y="5500525"/>
            <a:ext cx="12954952" cy="37505"/>
          </a:xfrm>
          <a:prstGeom prst="rect">
            <a:avLst/>
          </a:prstGeom>
          <a:solidFill>
            <a:srgbClr val="2B3541">
              <a:alpha val="4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