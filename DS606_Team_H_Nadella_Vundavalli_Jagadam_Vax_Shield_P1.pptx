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4"/>
  </p:sldMasterIdLst>
  <p:sldIdLst>
    <p:sldId id="256" r:id="rId5"/>
    <p:sldId id="257" r:id="rId6"/>
    <p:sldId id="258" r:id="rId7"/>
    <p:sldId id="259" r:id="rId8"/>
    <p:sldId id="260" r:id="rId9"/>
    <p:sldId id="261" r:id="rId10"/>
    <p:sldId id="262" r:id="rId11"/>
    <p:sldId id="263" r:id="rId12"/>
    <p:sldId id="267" r:id="rId13"/>
    <p:sldId id="268" r:id="rId14"/>
    <p:sldId id="264" r:id="rId15"/>
    <p:sldId id="275" r:id="rId16"/>
    <p:sldId id="269" r:id="rId17"/>
    <p:sldId id="270" r:id="rId18"/>
    <p:sldId id="271" r:id="rId19"/>
    <p:sldId id="273" r:id="rId20"/>
    <p:sldId id="265" r:id="rId21"/>
    <p:sldId id="266"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93B7A7-0E4B-4CF9-A485-770ECD7AF26C}" v="1036" dt="2024-10-07T19:26:38.4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9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FEED65-6A60-463F-A573-0C5EA64A5E16}"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1518399B-DEE9-476D-8D22-22041CF92149}">
      <dgm:prSet/>
      <dgm:spPr/>
      <dgm:t>
        <a:bodyPr/>
        <a:lstStyle/>
        <a:p>
          <a:r>
            <a:rPr lang="en-US" dirty="0">
              <a:solidFill>
                <a:schemeClr val="bg1"/>
              </a:solidFill>
              <a:highlight>
                <a:srgbClr val="800080"/>
              </a:highlight>
            </a:rPr>
            <a:t>Public health depends on vaccines, but none are completely risk-free.</a:t>
          </a:r>
        </a:p>
      </dgm:t>
    </dgm:pt>
    <dgm:pt modelId="{5CC4E24A-CDB4-4A1E-995A-007ADA329305}" type="parTrans" cxnId="{2E3DE394-B384-449F-A577-2E8255C979DC}">
      <dgm:prSet/>
      <dgm:spPr/>
      <dgm:t>
        <a:bodyPr/>
        <a:lstStyle/>
        <a:p>
          <a:endParaRPr lang="en-US"/>
        </a:p>
      </dgm:t>
    </dgm:pt>
    <dgm:pt modelId="{8694450E-ABB9-48C1-8D35-5B92EDD1F391}" type="sibTrans" cxnId="{2E3DE394-B384-449F-A577-2E8255C979DC}">
      <dgm:prSet phldrT="01" phldr="0"/>
      <dgm:spPr/>
      <dgm:t>
        <a:bodyPr/>
        <a:lstStyle/>
        <a:p>
          <a:r>
            <a:rPr lang="en-US"/>
            <a:t>01</a:t>
          </a:r>
        </a:p>
      </dgm:t>
    </dgm:pt>
    <dgm:pt modelId="{CB961459-7925-4915-91E2-B29F8023A3AC}">
      <dgm:prSet/>
      <dgm:spPr/>
      <dgm:t>
        <a:bodyPr/>
        <a:lstStyle/>
        <a:p>
          <a:r>
            <a:rPr lang="en-US" dirty="0"/>
            <a:t>To reduce risk and enhance patient safety, it is essential to know which vaccines produce more severe reactions for specific people. Given the heightened awareness of vaccination safety during the COVID-19 epidemic, this initiative is well-timed. </a:t>
          </a:r>
        </a:p>
      </dgm:t>
    </dgm:pt>
    <dgm:pt modelId="{1491608A-526C-4A6D-B0D6-F1BEA8FB0843}" type="parTrans" cxnId="{795EEE43-2349-4ED0-8FAD-D50DA771DB3A}">
      <dgm:prSet/>
      <dgm:spPr/>
      <dgm:t>
        <a:bodyPr/>
        <a:lstStyle/>
        <a:p>
          <a:endParaRPr lang="en-US"/>
        </a:p>
      </dgm:t>
    </dgm:pt>
    <dgm:pt modelId="{0E3577C7-C709-4848-BFD8-78CCE7A38FED}" type="sibTrans" cxnId="{795EEE43-2349-4ED0-8FAD-D50DA771DB3A}">
      <dgm:prSet phldrT="02" phldr="0"/>
      <dgm:spPr/>
      <dgm:t>
        <a:bodyPr/>
        <a:lstStyle/>
        <a:p>
          <a:r>
            <a:rPr lang="en-US"/>
            <a:t>02</a:t>
          </a:r>
        </a:p>
      </dgm:t>
    </dgm:pt>
    <dgm:pt modelId="{0D5FD42F-95E1-43AB-8EDD-EF4EE08E4CE8}">
      <dgm:prSet/>
      <dgm:spPr/>
      <dgm:t>
        <a:bodyPr/>
        <a:lstStyle/>
        <a:p>
          <a:r>
            <a:rPr lang="en-US" dirty="0"/>
            <a:t>Given the COVID-19 pandemics increased emphasis on vaccination safety and the continued need for efficient, secure immunization protocols, this research is especially pertinent.</a:t>
          </a:r>
        </a:p>
      </dgm:t>
    </dgm:pt>
    <dgm:pt modelId="{A65008FD-B2A9-42C4-8E40-FD9D75E020F6}" type="parTrans" cxnId="{EF4FC746-2E8B-4E3E-8D7E-2B21F43BFD52}">
      <dgm:prSet/>
      <dgm:spPr/>
      <dgm:t>
        <a:bodyPr/>
        <a:lstStyle/>
        <a:p>
          <a:endParaRPr lang="en-US"/>
        </a:p>
      </dgm:t>
    </dgm:pt>
    <dgm:pt modelId="{1696A4C8-ABCE-462A-A804-8CB1C7E17F57}" type="sibTrans" cxnId="{EF4FC746-2E8B-4E3E-8D7E-2B21F43BFD52}">
      <dgm:prSet phldrT="03" phldr="0"/>
      <dgm:spPr/>
      <dgm:t>
        <a:bodyPr/>
        <a:lstStyle/>
        <a:p>
          <a:r>
            <a:rPr lang="en-US"/>
            <a:t>03</a:t>
          </a:r>
        </a:p>
      </dgm:t>
    </dgm:pt>
    <dgm:pt modelId="{B85C7D94-F55C-4DB8-8558-DB337566EF98}" type="pres">
      <dgm:prSet presAssocID="{D4FEED65-6A60-463F-A573-0C5EA64A5E16}" presName="Name0" presStyleCnt="0">
        <dgm:presLayoutVars>
          <dgm:animLvl val="lvl"/>
          <dgm:resizeHandles val="exact"/>
        </dgm:presLayoutVars>
      </dgm:prSet>
      <dgm:spPr/>
    </dgm:pt>
    <dgm:pt modelId="{04F7449F-53E4-4092-92CA-A180627238F5}" type="pres">
      <dgm:prSet presAssocID="{1518399B-DEE9-476D-8D22-22041CF92149}" presName="compositeNode" presStyleCnt="0">
        <dgm:presLayoutVars>
          <dgm:bulletEnabled val="1"/>
        </dgm:presLayoutVars>
      </dgm:prSet>
      <dgm:spPr/>
    </dgm:pt>
    <dgm:pt modelId="{46CA5D91-6871-4927-8AA2-4A42835617FD}" type="pres">
      <dgm:prSet presAssocID="{1518399B-DEE9-476D-8D22-22041CF92149}" presName="bgRect" presStyleLbl="alignNode1" presStyleIdx="0" presStyleCnt="3"/>
      <dgm:spPr/>
    </dgm:pt>
    <dgm:pt modelId="{85F88A47-8682-4FC0-B836-2C3C2800023D}" type="pres">
      <dgm:prSet presAssocID="{8694450E-ABB9-48C1-8D35-5B92EDD1F391}" presName="sibTransNodeRect" presStyleLbl="alignNode1" presStyleIdx="0" presStyleCnt="3">
        <dgm:presLayoutVars>
          <dgm:chMax val="0"/>
          <dgm:bulletEnabled val="1"/>
        </dgm:presLayoutVars>
      </dgm:prSet>
      <dgm:spPr/>
    </dgm:pt>
    <dgm:pt modelId="{B163AD7D-4D57-464C-B365-E0C35B34B132}" type="pres">
      <dgm:prSet presAssocID="{1518399B-DEE9-476D-8D22-22041CF92149}" presName="nodeRect" presStyleLbl="alignNode1" presStyleIdx="0" presStyleCnt="3">
        <dgm:presLayoutVars>
          <dgm:bulletEnabled val="1"/>
        </dgm:presLayoutVars>
      </dgm:prSet>
      <dgm:spPr/>
    </dgm:pt>
    <dgm:pt modelId="{79ADB894-05A6-4F09-ACE4-2B597CFDE1AA}" type="pres">
      <dgm:prSet presAssocID="{8694450E-ABB9-48C1-8D35-5B92EDD1F391}" presName="sibTrans" presStyleCnt="0"/>
      <dgm:spPr/>
    </dgm:pt>
    <dgm:pt modelId="{42A9EB24-AAA0-4EE9-8EC8-DAC2D3C5F1EF}" type="pres">
      <dgm:prSet presAssocID="{CB961459-7925-4915-91E2-B29F8023A3AC}" presName="compositeNode" presStyleCnt="0">
        <dgm:presLayoutVars>
          <dgm:bulletEnabled val="1"/>
        </dgm:presLayoutVars>
      </dgm:prSet>
      <dgm:spPr/>
    </dgm:pt>
    <dgm:pt modelId="{F1E23A84-00F9-40FE-822C-E325AC8F14C2}" type="pres">
      <dgm:prSet presAssocID="{CB961459-7925-4915-91E2-B29F8023A3AC}" presName="bgRect" presStyleLbl="alignNode1" presStyleIdx="1" presStyleCnt="3"/>
      <dgm:spPr/>
    </dgm:pt>
    <dgm:pt modelId="{63658559-9200-40FF-9D65-D945315E98A4}" type="pres">
      <dgm:prSet presAssocID="{0E3577C7-C709-4848-BFD8-78CCE7A38FED}" presName="sibTransNodeRect" presStyleLbl="alignNode1" presStyleIdx="1" presStyleCnt="3">
        <dgm:presLayoutVars>
          <dgm:chMax val="0"/>
          <dgm:bulletEnabled val="1"/>
        </dgm:presLayoutVars>
      </dgm:prSet>
      <dgm:spPr/>
    </dgm:pt>
    <dgm:pt modelId="{71071FBB-FC48-47AC-AC90-C7ED1B8EB77C}" type="pres">
      <dgm:prSet presAssocID="{CB961459-7925-4915-91E2-B29F8023A3AC}" presName="nodeRect" presStyleLbl="alignNode1" presStyleIdx="1" presStyleCnt="3">
        <dgm:presLayoutVars>
          <dgm:bulletEnabled val="1"/>
        </dgm:presLayoutVars>
      </dgm:prSet>
      <dgm:spPr/>
    </dgm:pt>
    <dgm:pt modelId="{91742D44-55A6-4002-B85A-C1FBDEAB76A9}" type="pres">
      <dgm:prSet presAssocID="{0E3577C7-C709-4848-BFD8-78CCE7A38FED}" presName="sibTrans" presStyleCnt="0"/>
      <dgm:spPr/>
    </dgm:pt>
    <dgm:pt modelId="{CEC4F19B-D2BA-4A3E-A421-F0D06A1E6B44}" type="pres">
      <dgm:prSet presAssocID="{0D5FD42F-95E1-43AB-8EDD-EF4EE08E4CE8}" presName="compositeNode" presStyleCnt="0">
        <dgm:presLayoutVars>
          <dgm:bulletEnabled val="1"/>
        </dgm:presLayoutVars>
      </dgm:prSet>
      <dgm:spPr/>
    </dgm:pt>
    <dgm:pt modelId="{C3DD8161-E8F9-48D9-BEC8-302FDD517C39}" type="pres">
      <dgm:prSet presAssocID="{0D5FD42F-95E1-43AB-8EDD-EF4EE08E4CE8}" presName="bgRect" presStyleLbl="alignNode1" presStyleIdx="2" presStyleCnt="3"/>
      <dgm:spPr/>
    </dgm:pt>
    <dgm:pt modelId="{0D83AFDC-0F0D-478B-BE00-6D869DCFE28F}" type="pres">
      <dgm:prSet presAssocID="{1696A4C8-ABCE-462A-A804-8CB1C7E17F57}" presName="sibTransNodeRect" presStyleLbl="alignNode1" presStyleIdx="2" presStyleCnt="3">
        <dgm:presLayoutVars>
          <dgm:chMax val="0"/>
          <dgm:bulletEnabled val="1"/>
        </dgm:presLayoutVars>
      </dgm:prSet>
      <dgm:spPr/>
    </dgm:pt>
    <dgm:pt modelId="{90BA0C21-B7A6-4A85-B6C1-3ACC3E79237A}" type="pres">
      <dgm:prSet presAssocID="{0D5FD42F-95E1-43AB-8EDD-EF4EE08E4CE8}" presName="nodeRect" presStyleLbl="alignNode1" presStyleIdx="2" presStyleCnt="3">
        <dgm:presLayoutVars>
          <dgm:bulletEnabled val="1"/>
        </dgm:presLayoutVars>
      </dgm:prSet>
      <dgm:spPr/>
    </dgm:pt>
  </dgm:ptLst>
  <dgm:cxnLst>
    <dgm:cxn modelId="{A42D6813-F1F7-4C86-A133-2B761673D898}" type="presOf" srcId="{1518399B-DEE9-476D-8D22-22041CF92149}" destId="{46CA5D91-6871-4927-8AA2-4A42835617FD}" srcOrd="0" destOrd="0" presId="urn:microsoft.com/office/officeart/2016/7/layout/LinearBlockProcessNumbered"/>
    <dgm:cxn modelId="{F6F1801F-FA76-4EC4-9317-6212708226F1}" type="presOf" srcId="{8694450E-ABB9-48C1-8D35-5B92EDD1F391}" destId="{85F88A47-8682-4FC0-B836-2C3C2800023D}" srcOrd="0" destOrd="0" presId="urn:microsoft.com/office/officeart/2016/7/layout/LinearBlockProcessNumbered"/>
    <dgm:cxn modelId="{ABA8F727-CE78-4463-85D2-54C2C320A165}" type="presOf" srcId="{1696A4C8-ABCE-462A-A804-8CB1C7E17F57}" destId="{0D83AFDC-0F0D-478B-BE00-6D869DCFE28F}" srcOrd="0" destOrd="0" presId="urn:microsoft.com/office/officeart/2016/7/layout/LinearBlockProcessNumbered"/>
    <dgm:cxn modelId="{795EEE43-2349-4ED0-8FAD-D50DA771DB3A}" srcId="{D4FEED65-6A60-463F-A573-0C5EA64A5E16}" destId="{CB961459-7925-4915-91E2-B29F8023A3AC}" srcOrd="1" destOrd="0" parTransId="{1491608A-526C-4A6D-B0D6-F1BEA8FB0843}" sibTransId="{0E3577C7-C709-4848-BFD8-78CCE7A38FED}"/>
    <dgm:cxn modelId="{9CEE4844-D25A-4FBB-90EC-51F60084DD15}" type="presOf" srcId="{0D5FD42F-95E1-43AB-8EDD-EF4EE08E4CE8}" destId="{C3DD8161-E8F9-48D9-BEC8-302FDD517C39}" srcOrd="0" destOrd="0" presId="urn:microsoft.com/office/officeart/2016/7/layout/LinearBlockProcessNumbered"/>
    <dgm:cxn modelId="{D300B465-3A9E-4478-BD47-AEA9925619E8}" type="presOf" srcId="{0D5FD42F-95E1-43AB-8EDD-EF4EE08E4CE8}" destId="{90BA0C21-B7A6-4A85-B6C1-3ACC3E79237A}" srcOrd="1" destOrd="0" presId="urn:microsoft.com/office/officeart/2016/7/layout/LinearBlockProcessNumbered"/>
    <dgm:cxn modelId="{EF4FC746-2E8B-4E3E-8D7E-2B21F43BFD52}" srcId="{D4FEED65-6A60-463F-A573-0C5EA64A5E16}" destId="{0D5FD42F-95E1-43AB-8EDD-EF4EE08E4CE8}" srcOrd="2" destOrd="0" parTransId="{A65008FD-B2A9-42C4-8E40-FD9D75E020F6}" sibTransId="{1696A4C8-ABCE-462A-A804-8CB1C7E17F57}"/>
    <dgm:cxn modelId="{C92FED6D-0CBB-4953-AA12-C6F4444D372E}" type="presOf" srcId="{0E3577C7-C709-4848-BFD8-78CCE7A38FED}" destId="{63658559-9200-40FF-9D65-D945315E98A4}" srcOrd="0" destOrd="0" presId="urn:microsoft.com/office/officeart/2016/7/layout/LinearBlockProcessNumbered"/>
    <dgm:cxn modelId="{CA52C34F-6FB2-4BA4-B0D3-0F10ADF884C4}" type="presOf" srcId="{CB961459-7925-4915-91E2-B29F8023A3AC}" destId="{71071FBB-FC48-47AC-AC90-C7ED1B8EB77C}" srcOrd="1" destOrd="0" presId="urn:microsoft.com/office/officeart/2016/7/layout/LinearBlockProcessNumbered"/>
    <dgm:cxn modelId="{2E3DE394-B384-449F-A577-2E8255C979DC}" srcId="{D4FEED65-6A60-463F-A573-0C5EA64A5E16}" destId="{1518399B-DEE9-476D-8D22-22041CF92149}" srcOrd="0" destOrd="0" parTransId="{5CC4E24A-CDB4-4A1E-995A-007ADA329305}" sibTransId="{8694450E-ABB9-48C1-8D35-5B92EDD1F391}"/>
    <dgm:cxn modelId="{6E06C1B7-DB54-4DFE-B539-6D53DD00952F}" type="presOf" srcId="{D4FEED65-6A60-463F-A573-0C5EA64A5E16}" destId="{B85C7D94-F55C-4DB8-8558-DB337566EF98}" srcOrd="0" destOrd="0" presId="urn:microsoft.com/office/officeart/2016/7/layout/LinearBlockProcessNumbered"/>
    <dgm:cxn modelId="{8BCA81DC-BA64-44EE-A957-DF93559891DF}" type="presOf" srcId="{1518399B-DEE9-476D-8D22-22041CF92149}" destId="{B163AD7D-4D57-464C-B365-E0C35B34B132}" srcOrd="1" destOrd="0" presId="urn:microsoft.com/office/officeart/2016/7/layout/LinearBlockProcessNumbered"/>
    <dgm:cxn modelId="{808B1AE3-81CE-423A-A8DC-2077FDE70126}" type="presOf" srcId="{CB961459-7925-4915-91E2-B29F8023A3AC}" destId="{F1E23A84-00F9-40FE-822C-E325AC8F14C2}" srcOrd="0" destOrd="0" presId="urn:microsoft.com/office/officeart/2016/7/layout/LinearBlockProcessNumbered"/>
    <dgm:cxn modelId="{49DC580F-8E9A-452D-9E83-8AB30E15C4E8}" type="presParOf" srcId="{B85C7D94-F55C-4DB8-8558-DB337566EF98}" destId="{04F7449F-53E4-4092-92CA-A180627238F5}" srcOrd="0" destOrd="0" presId="urn:microsoft.com/office/officeart/2016/7/layout/LinearBlockProcessNumbered"/>
    <dgm:cxn modelId="{CE55D8F7-ED73-46BB-9E59-A280D3320597}" type="presParOf" srcId="{04F7449F-53E4-4092-92CA-A180627238F5}" destId="{46CA5D91-6871-4927-8AA2-4A42835617FD}" srcOrd="0" destOrd="0" presId="urn:microsoft.com/office/officeart/2016/7/layout/LinearBlockProcessNumbered"/>
    <dgm:cxn modelId="{9F2302B5-45EB-4F09-BF3E-5BDC363E61F5}" type="presParOf" srcId="{04F7449F-53E4-4092-92CA-A180627238F5}" destId="{85F88A47-8682-4FC0-B836-2C3C2800023D}" srcOrd="1" destOrd="0" presId="urn:microsoft.com/office/officeart/2016/7/layout/LinearBlockProcessNumbered"/>
    <dgm:cxn modelId="{9B544510-78A3-4D7B-8FB7-CA60111CBDD0}" type="presParOf" srcId="{04F7449F-53E4-4092-92CA-A180627238F5}" destId="{B163AD7D-4D57-464C-B365-E0C35B34B132}" srcOrd="2" destOrd="0" presId="urn:microsoft.com/office/officeart/2016/7/layout/LinearBlockProcessNumbered"/>
    <dgm:cxn modelId="{608C1757-FC22-4C7C-9E3B-F45B16B6B470}" type="presParOf" srcId="{B85C7D94-F55C-4DB8-8558-DB337566EF98}" destId="{79ADB894-05A6-4F09-ACE4-2B597CFDE1AA}" srcOrd="1" destOrd="0" presId="urn:microsoft.com/office/officeart/2016/7/layout/LinearBlockProcessNumbered"/>
    <dgm:cxn modelId="{DACA6357-04F6-4E51-9BE5-2D53F1CE2C1B}" type="presParOf" srcId="{B85C7D94-F55C-4DB8-8558-DB337566EF98}" destId="{42A9EB24-AAA0-4EE9-8EC8-DAC2D3C5F1EF}" srcOrd="2" destOrd="0" presId="urn:microsoft.com/office/officeart/2016/7/layout/LinearBlockProcessNumbered"/>
    <dgm:cxn modelId="{C72D90AA-260F-47D6-AB73-9063BFA59A44}" type="presParOf" srcId="{42A9EB24-AAA0-4EE9-8EC8-DAC2D3C5F1EF}" destId="{F1E23A84-00F9-40FE-822C-E325AC8F14C2}" srcOrd="0" destOrd="0" presId="urn:microsoft.com/office/officeart/2016/7/layout/LinearBlockProcessNumbered"/>
    <dgm:cxn modelId="{7E005A86-B019-4E74-B2EA-6F6740A79D2C}" type="presParOf" srcId="{42A9EB24-AAA0-4EE9-8EC8-DAC2D3C5F1EF}" destId="{63658559-9200-40FF-9D65-D945315E98A4}" srcOrd="1" destOrd="0" presId="urn:microsoft.com/office/officeart/2016/7/layout/LinearBlockProcessNumbered"/>
    <dgm:cxn modelId="{A2B9F8DD-5FC3-4745-AE21-5566A6BF801E}" type="presParOf" srcId="{42A9EB24-AAA0-4EE9-8EC8-DAC2D3C5F1EF}" destId="{71071FBB-FC48-47AC-AC90-C7ED1B8EB77C}" srcOrd="2" destOrd="0" presId="urn:microsoft.com/office/officeart/2016/7/layout/LinearBlockProcessNumbered"/>
    <dgm:cxn modelId="{638C9BFB-B34F-4DE6-8A8C-0F62AE09FDBA}" type="presParOf" srcId="{B85C7D94-F55C-4DB8-8558-DB337566EF98}" destId="{91742D44-55A6-4002-B85A-C1FBDEAB76A9}" srcOrd="3" destOrd="0" presId="urn:microsoft.com/office/officeart/2016/7/layout/LinearBlockProcessNumbered"/>
    <dgm:cxn modelId="{670D9BA4-5DF9-4E88-A41B-D0C541543D93}" type="presParOf" srcId="{B85C7D94-F55C-4DB8-8558-DB337566EF98}" destId="{CEC4F19B-D2BA-4A3E-A421-F0D06A1E6B44}" srcOrd="4" destOrd="0" presId="urn:microsoft.com/office/officeart/2016/7/layout/LinearBlockProcessNumbered"/>
    <dgm:cxn modelId="{788049A7-9F99-45FB-968E-E9B4D072AADA}" type="presParOf" srcId="{CEC4F19B-D2BA-4A3E-A421-F0D06A1E6B44}" destId="{C3DD8161-E8F9-48D9-BEC8-302FDD517C39}" srcOrd="0" destOrd="0" presId="urn:microsoft.com/office/officeart/2016/7/layout/LinearBlockProcessNumbered"/>
    <dgm:cxn modelId="{D4087575-07B4-4A96-A966-D701A5107F90}" type="presParOf" srcId="{CEC4F19B-D2BA-4A3E-A421-F0D06A1E6B44}" destId="{0D83AFDC-0F0D-478B-BE00-6D869DCFE28F}" srcOrd="1" destOrd="0" presId="urn:microsoft.com/office/officeart/2016/7/layout/LinearBlockProcessNumbered"/>
    <dgm:cxn modelId="{87C6F1DE-C5B9-430E-B833-7B4CBF865792}" type="presParOf" srcId="{CEC4F19B-D2BA-4A3E-A421-F0D06A1E6B44}" destId="{90BA0C21-B7A6-4A85-B6C1-3ACC3E79237A}"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4B44A7-080A-4C52-844B-A2A10E225D48}"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470B2E33-AAA0-4512-AB78-872F4EA7EAB7}">
      <dgm:prSet/>
      <dgm:spPr/>
      <dgm:t>
        <a:bodyPr/>
        <a:lstStyle/>
        <a:p>
          <a:pPr>
            <a:lnSpc>
              <a:spcPct val="100000"/>
            </a:lnSpc>
          </a:pPr>
          <a:r>
            <a:rPr lang="en-US" dirty="0"/>
            <a:t>Based on patient demographics, medical history, and symptoms, is it possible to anticipate if a vaccine would result in a serious adverse event.</a:t>
          </a:r>
        </a:p>
      </dgm:t>
    </dgm:pt>
    <dgm:pt modelId="{A7BEA086-3D79-4FDE-9484-E90744485824}" type="parTrans" cxnId="{74A78076-AFE9-4A7B-840F-11937AF2F94A}">
      <dgm:prSet/>
      <dgm:spPr/>
      <dgm:t>
        <a:bodyPr/>
        <a:lstStyle/>
        <a:p>
          <a:endParaRPr lang="en-US"/>
        </a:p>
      </dgm:t>
    </dgm:pt>
    <dgm:pt modelId="{A36E8D49-0776-42C8-B122-2570921462D2}" type="sibTrans" cxnId="{74A78076-AFE9-4A7B-840F-11937AF2F94A}">
      <dgm:prSet/>
      <dgm:spPr/>
      <dgm:t>
        <a:bodyPr/>
        <a:lstStyle/>
        <a:p>
          <a:pPr>
            <a:lnSpc>
              <a:spcPct val="100000"/>
            </a:lnSpc>
          </a:pPr>
          <a:endParaRPr lang="en-US"/>
        </a:p>
      </dgm:t>
    </dgm:pt>
    <dgm:pt modelId="{33DDED42-9621-46A8-BF35-F25F2ABBC52B}">
      <dgm:prSet/>
      <dgm:spPr/>
      <dgm:t>
        <a:bodyPr/>
        <a:lstStyle/>
        <a:p>
          <a:pPr>
            <a:lnSpc>
              <a:spcPct val="100000"/>
            </a:lnSpc>
          </a:pPr>
          <a:r>
            <a:rPr lang="en-US" dirty="0"/>
            <a:t>Machine learning algorithms can be used to forecast which vaccines are more likely to cause major adverse responses in people with particular features.</a:t>
          </a:r>
        </a:p>
      </dgm:t>
    </dgm:pt>
    <dgm:pt modelId="{3C73BB4C-1143-4696-84AE-8E12ED834583}" type="parTrans" cxnId="{CFF7A395-A7D0-420F-9AEA-0C14ADBBA16C}">
      <dgm:prSet/>
      <dgm:spPr/>
      <dgm:t>
        <a:bodyPr/>
        <a:lstStyle/>
        <a:p>
          <a:endParaRPr lang="en-US"/>
        </a:p>
      </dgm:t>
    </dgm:pt>
    <dgm:pt modelId="{2F008C67-CF17-45E1-9135-19F1F6A11DFE}" type="sibTrans" cxnId="{CFF7A395-A7D0-420F-9AEA-0C14ADBBA16C}">
      <dgm:prSet/>
      <dgm:spPr/>
      <dgm:t>
        <a:bodyPr/>
        <a:lstStyle/>
        <a:p>
          <a:endParaRPr lang="en-US"/>
        </a:p>
      </dgm:t>
    </dgm:pt>
    <dgm:pt modelId="{4335EDE8-F5A1-48F0-925C-EF1AC797EAB0}" type="pres">
      <dgm:prSet presAssocID="{B04B44A7-080A-4C52-844B-A2A10E225D48}" presName="root" presStyleCnt="0">
        <dgm:presLayoutVars>
          <dgm:dir/>
          <dgm:resizeHandles val="exact"/>
        </dgm:presLayoutVars>
      </dgm:prSet>
      <dgm:spPr/>
    </dgm:pt>
    <dgm:pt modelId="{C0B03FB6-E93B-4459-8EDB-BAAF7DC54A2A}" type="pres">
      <dgm:prSet presAssocID="{B04B44A7-080A-4C52-844B-A2A10E225D48}" presName="container" presStyleCnt="0">
        <dgm:presLayoutVars>
          <dgm:dir/>
          <dgm:resizeHandles val="exact"/>
        </dgm:presLayoutVars>
      </dgm:prSet>
      <dgm:spPr/>
    </dgm:pt>
    <dgm:pt modelId="{8E08B936-A289-4453-9D1E-39843BC096DB}" type="pres">
      <dgm:prSet presAssocID="{470B2E33-AAA0-4512-AB78-872F4EA7EAB7}" presName="compNode" presStyleCnt="0"/>
      <dgm:spPr/>
    </dgm:pt>
    <dgm:pt modelId="{F8567592-916F-4126-9836-3E9C846EE8E4}" type="pres">
      <dgm:prSet presAssocID="{470B2E33-AAA0-4512-AB78-872F4EA7EAB7}" presName="iconBgRect" presStyleLbl="bgShp" presStyleIdx="0" presStyleCnt="2"/>
      <dgm:spPr/>
    </dgm:pt>
    <dgm:pt modelId="{EAA711C0-2004-48EC-BCAA-13FA4835A1C9}" type="pres">
      <dgm:prSet presAssocID="{470B2E33-AAA0-4512-AB78-872F4EA7EAB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Needle"/>
        </a:ext>
      </dgm:extLst>
    </dgm:pt>
    <dgm:pt modelId="{7CA07D79-BA1A-4F0A-B76C-F21621820362}" type="pres">
      <dgm:prSet presAssocID="{470B2E33-AAA0-4512-AB78-872F4EA7EAB7}" presName="spaceRect" presStyleCnt="0"/>
      <dgm:spPr/>
    </dgm:pt>
    <dgm:pt modelId="{A2F9B8C5-0623-4550-B1B4-67BC8EB594E7}" type="pres">
      <dgm:prSet presAssocID="{470B2E33-AAA0-4512-AB78-872F4EA7EAB7}" presName="textRect" presStyleLbl="revTx" presStyleIdx="0" presStyleCnt="2">
        <dgm:presLayoutVars>
          <dgm:chMax val="1"/>
          <dgm:chPref val="1"/>
        </dgm:presLayoutVars>
      </dgm:prSet>
      <dgm:spPr/>
    </dgm:pt>
    <dgm:pt modelId="{0012CFCC-A90B-4887-9453-234A9E7151B8}" type="pres">
      <dgm:prSet presAssocID="{A36E8D49-0776-42C8-B122-2570921462D2}" presName="sibTrans" presStyleLbl="sibTrans2D1" presStyleIdx="0" presStyleCnt="0"/>
      <dgm:spPr/>
    </dgm:pt>
    <dgm:pt modelId="{D185FEE3-52B3-4E7A-B1E7-7219224EABCC}" type="pres">
      <dgm:prSet presAssocID="{33DDED42-9621-46A8-BF35-F25F2ABBC52B}" presName="compNode" presStyleCnt="0"/>
      <dgm:spPr/>
    </dgm:pt>
    <dgm:pt modelId="{B33AFFC6-ED7A-46CA-9A9E-E9D2CE239F03}" type="pres">
      <dgm:prSet presAssocID="{33DDED42-9621-46A8-BF35-F25F2ABBC52B}" presName="iconBgRect" presStyleLbl="bgShp" presStyleIdx="1" presStyleCnt="2"/>
      <dgm:spPr/>
    </dgm:pt>
    <dgm:pt modelId="{ED637DDC-FBEF-49E4-9CAA-9734D2237A3B}" type="pres">
      <dgm:prSet presAssocID="{33DDED42-9621-46A8-BF35-F25F2ABBC52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ctor"/>
        </a:ext>
      </dgm:extLst>
    </dgm:pt>
    <dgm:pt modelId="{87801A3D-6624-4019-A3D7-F3A387BF7679}" type="pres">
      <dgm:prSet presAssocID="{33DDED42-9621-46A8-BF35-F25F2ABBC52B}" presName="spaceRect" presStyleCnt="0"/>
      <dgm:spPr/>
    </dgm:pt>
    <dgm:pt modelId="{E499B255-C0BE-4E2E-8365-36122805C339}" type="pres">
      <dgm:prSet presAssocID="{33DDED42-9621-46A8-BF35-F25F2ABBC52B}" presName="textRect" presStyleLbl="revTx" presStyleIdx="1" presStyleCnt="2">
        <dgm:presLayoutVars>
          <dgm:chMax val="1"/>
          <dgm:chPref val="1"/>
        </dgm:presLayoutVars>
      </dgm:prSet>
      <dgm:spPr/>
    </dgm:pt>
  </dgm:ptLst>
  <dgm:cxnLst>
    <dgm:cxn modelId="{74A78076-AFE9-4A7B-840F-11937AF2F94A}" srcId="{B04B44A7-080A-4C52-844B-A2A10E225D48}" destId="{470B2E33-AAA0-4512-AB78-872F4EA7EAB7}" srcOrd="0" destOrd="0" parTransId="{A7BEA086-3D79-4FDE-9484-E90744485824}" sibTransId="{A36E8D49-0776-42C8-B122-2570921462D2}"/>
    <dgm:cxn modelId="{350C6F7E-E9BC-4750-A3D8-FC4103BC6097}" type="presOf" srcId="{33DDED42-9621-46A8-BF35-F25F2ABBC52B}" destId="{E499B255-C0BE-4E2E-8365-36122805C339}" srcOrd="0" destOrd="0" presId="urn:microsoft.com/office/officeart/2018/2/layout/IconCircleList"/>
    <dgm:cxn modelId="{54973E92-99B7-4CBB-A73C-20127A6C8819}" type="presOf" srcId="{B04B44A7-080A-4C52-844B-A2A10E225D48}" destId="{4335EDE8-F5A1-48F0-925C-EF1AC797EAB0}" srcOrd="0" destOrd="0" presId="urn:microsoft.com/office/officeart/2018/2/layout/IconCircleList"/>
    <dgm:cxn modelId="{CFF7A395-A7D0-420F-9AEA-0C14ADBBA16C}" srcId="{B04B44A7-080A-4C52-844B-A2A10E225D48}" destId="{33DDED42-9621-46A8-BF35-F25F2ABBC52B}" srcOrd="1" destOrd="0" parTransId="{3C73BB4C-1143-4696-84AE-8E12ED834583}" sibTransId="{2F008C67-CF17-45E1-9135-19F1F6A11DFE}"/>
    <dgm:cxn modelId="{F08B36D9-10C9-4AFD-831B-9E406157F3F5}" type="presOf" srcId="{470B2E33-AAA0-4512-AB78-872F4EA7EAB7}" destId="{A2F9B8C5-0623-4550-B1B4-67BC8EB594E7}" srcOrd="0" destOrd="0" presId="urn:microsoft.com/office/officeart/2018/2/layout/IconCircleList"/>
    <dgm:cxn modelId="{355D3DEF-88A4-4908-B6C6-68D578BE5525}" type="presOf" srcId="{A36E8D49-0776-42C8-B122-2570921462D2}" destId="{0012CFCC-A90B-4887-9453-234A9E7151B8}" srcOrd="0" destOrd="0" presId="urn:microsoft.com/office/officeart/2018/2/layout/IconCircleList"/>
    <dgm:cxn modelId="{47AE70F4-B423-48A1-83D1-31A396F957CD}" type="presParOf" srcId="{4335EDE8-F5A1-48F0-925C-EF1AC797EAB0}" destId="{C0B03FB6-E93B-4459-8EDB-BAAF7DC54A2A}" srcOrd="0" destOrd="0" presId="urn:microsoft.com/office/officeart/2018/2/layout/IconCircleList"/>
    <dgm:cxn modelId="{13E84FF7-4591-4D95-85AB-20FC3F9E318E}" type="presParOf" srcId="{C0B03FB6-E93B-4459-8EDB-BAAF7DC54A2A}" destId="{8E08B936-A289-4453-9D1E-39843BC096DB}" srcOrd="0" destOrd="0" presId="urn:microsoft.com/office/officeart/2018/2/layout/IconCircleList"/>
    <dgm:cxn modelId="{F470E0D1-E45C-478E-B98C-114E965C2F3F}" type="presParOf" srcId="{8E08B936-A289-4453-9D1E-39843BC096DB}" destId="{F8567592-916F-4126-9836-3E9C846EE8E4}" srcOrd="0" destOrd="0" presId="urn:microsoft.com/office/officeart/2018/2/layout/IconCircleList"/>
    <dgm:cxn modelId="{2DE7001C-5214-4762-B36A-6F0725F250B4}" type="presParOf" srcId="{8E08B936-A289-4453-9D1E-39843BC096DB}" destId="{EAA711C0-2004-48EC-BCAA-13FA4835A1C9}" srcOrd="1" destOrd="0" presId="urn:microsoft.com/office/officeart/2018/2/layout/IconCircleList"/>
    <dgm:cxn modelId="{D5860689-D603-4FEB-8B54-C5F00576E6AD}" type="presParOf" srcId="{8E08B936-A289-4453-9D1E-39843BC096DB}" destId="{7CA07D79-BA1A-4F0A-B76C-F21621820362}" srcOrd="2" destOrd="0" presId="urn:microsoft.com/office/officeart/2018/2/layout/IconCircleList"/>
    <dgm:cxn modelId="{A0D458FA-2FC3-4677-A42A-51E76513F1B7}" type="presParOf" srcId="{8E08B936-A289-4453-9D1E-39843BC096DB}" destId="{A2F9B8C5-0623-4550-B1B4-67BC8EB594E7}" srcOrd="3" destOrd="0" presId="urn:microsoft.com/office/officeart/2018/2/layout/IconCircleList"/>
    <dgm:cxn modelId="{0A6692A4-C2D7-47ED-A9B4-8F76C3794707}" type="presParOf" srcId="{C0B03FB6-E93B-4459-8EDB-BAAF7DC54A2A}" destId="{0012CFCC-A90B-4887-9453-234A9E7151B8}" srcOrd="1" destOrd="0" presId="urn:microsoft.com/office/officeart/2018/2/layout/IconCircleList"/>
    <dgm:cxn modelId="{35637356-F223-436E-9A8C-2E758E30EE7B}" type="presParOf" srcId="{C0B03FB6-E93B-4459-8EDB-BAAF7DC54A2A}" destId="{D185FEE3-52B3-4E7A-B1E7-7219224EABCC}" srcOrd="2" destOrd="0" presId="urn:microsoft.com/office/officeart/2018/2/layout/IconCircleList"/>
    <dgm:cxn modelId="{EB51B8CE-4061-4246-BBDF-3A3B7F418CEF}" type="presParOf" srcId="{D185FEE3-52B3-4E7A-B1E7-7219224EABCC}" destId="{B33AFFC6-ED7A-46CA-9A9E-E9D2CE239F03}" srcOrd="0" destOrd="0" presId="urn:microsoft.com/office/officeart/2018/2/layout/IconCircleList"/>
    <dgm:cxn modelId="{B87B838F-A1DE-4A2D-8EE0-58B97E2956D0}" type="presParOf" srcId="{D185FEE3-52B3-4E7A-B1E7-7219224EABCC}" destId="{ED637DDC-FBEF-49E4-9CAA-9734D2237A3B}" srcOrd="1" destOrd="0" presId="urn:microsoft.com/office/officeart/2018/2/layout/IconCircleList"/>
    <dgm:cxn modelId="{4412C8FA-F729-443C-AE03-B5B372E727B6}" type="presParOf" srcId="{D185FEE3-52B3-4E7A-B1E7-7219224EABCC}" destId="{87801A3D-6624-4019-A3D7-F3A387BF7679}" srcOrd="2" destOrd="0" presId="urn:microsoft.com/office/officeart/2018/2/layout/IconCircleList"/>
    <dgm:cxn modelId="{716D1AB6-A2AF-43FB-999D-04BB1D43CCAC}" type="presParOf" srcId="{D185FEE3-52B3-4E7A-B1E7-7219224EABCC}" destId="{E499B255-C0BE-4E2E-8365-36122805C33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CA5D91-6871-4927-8AA2-4A42835617FD}">
      <dsp:nvSpPr>
        <dsp:cNvPr id="0" name=""/>
        <dsp:cNvSpPr/>
      </dsp:nvSpPr>
      <dsp:spPr>
        <a:xfrm>
          <a:off x="738" y="157279"/>
          <a:ext cx="2989659" cy="3587591"/>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312" tIns="0" rIns="295312" bIns="330200" numCol="1" spcCol="1270" anchor="t" anchorCtr="0">
          <a:noAutofit/>
        </a:bodyPr>
        <a:lstStyle/>
        <a:p>
          <a:pPr marL="0" lvl="0" indent="0" algn="l" defTabSz="666750">
            <a:lnSpc>
              <a:spcPct val="90000"/>
            </a:lnSpc>
            <a:spcBef>
              <a:spcPct val="0"/>
            </a:spcBef>
            <a:spcAft>
              <a:spcPct val="35000"/>
            </a:spcAft>
            <a:buNone/>
          </a:pPr>
          <a:r>
            <a:rPr lang="en-US" sz="1500" kern="1200" dirty="0">
              <a:solidFill>
                <a:schemeClr val="bg1"/>
              </a:solidFill>
              <a:highlight>
                <a:srgbClr val="800080"/>
              </a:highlight>
            </a:rPr>
            <a:t>Public health depends on vaccines, but none are completely risk-free.</a:t>
          </a:r>
        </a:p>
      </dsp:txBody>
      <dsp:txXfrm>
        <a:off x="738" y="1592315"/>
        <a:ext cx="2989659" cy="2152554"/>
      </dsp:txXfrm>
    </dsp:sp>
    <dsp:sp modelId="{85F88A47-8682-4FC0-B836-2C3C2800023D}">
      <dsp:nvSpPr>
        <dsp:cNvPr id="0" name=""/>
        <dsp:cNvSpPr/>
      </dsp:nvSpPr>
      <dsp:spPr>
        <a:xfrm>
          <a:off x="738" y="157279"/>
          <a:ext cx="2989659" cy="143503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95312" tIns="165100" rIns="295312"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738" y="157279"/>
        <a:ext cx="2989659" cy="1435036"/>
      </dsp:txXfrm>
    </dsp:sp>
    <dsp:sp modelId="{F1E23A84-00F9-40FE-822C-E325AC8F14C2}">
      <dsp:nvSpPr>
        <dsp:cNvPr id="0" name=""/>
        <dsp:cNvSpPr/>
      </dsp:nvSpPr>
      <dsp:spPr>
        <a:xfrm>
          <a:off x="3229570" y="157279"/>
          <a:ext cx="2989659" cy="358759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312" tIns="0" rIns="295312" bIns="330200" numCol="1" spcCol="1270" anchor="t" anchorCtr="0">
          <a:noAutofit/>
        </a:bodyPr>
        <a:lstStyle/>
        <a:p>
          <a:pPr marL="0" lvl="0" indent="0" algn="l" defTabSz="666750">
            <a:lnSpc>
              <a:spcPct val="90000"/>
            </a:lnSpc>
            <a:spcBef>
              <a:spcPct val="0"/>
            </a:spcBef>
            <a:spcAft>
              <a:spcPct val="35000"/>
            </a:spcAft>
            <a:buNone/>
          </a:pPr>
          <a:r>
            <a:rPr lang="en-US" sz="1500" kern="1200" dirty="0"/>
            <a:t>To reduce risk and enhance patient safety, it is essential to know which vaccines produce more severe reactions for specific people. Given the heightened awareness of vaccination safety during the COVID-19 epidemic, this initiative is well-timed. </a:t>
          </a:r>
        </a:p>
      </dsp:txBody>
      <dsp:txXfrm>
        <a:off x="3229570" y="1592315"/>
        <a:ext cx="2989659" cy="2152554"/>
      </dsp:txXfrm>
    </dsp:sp>
    <dsp:sp modelId="{63658559-9200-40FF-9D65-D945315E98A4}">
      <dsp:nvSpPr>
        <dsp:cNvPr id="0" name=""/>
        <dsp:cNvSpPr/>
      </dsp:nvSpPr>
      <dsp:spPr>
        <a:xfrm>
          <a:off x="3229570" y="157279"/>
          <a:ext cx="2989659" cy="143503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95312" tIns="165100" rIns="295312"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229570" y="157279"/>
        <a:ext cx="2989659" cy="1435036"/>
      </dsp:txXfrm>
    </dsp:sp>
    <dsp:sp modelId="{C3DD8161-E8F9-48D9-BEC8-302FDD517C39}">
      <dsp:nvSpPr>
        <dsp:cNvPr id="0" name=""/>
        <dsp:cNvSpPr/>
      </dsp:nvSpPr>
      <dsp:spPr>
        <a:xfrm>
          <a:off x="6458402" y="157279"/>
          <a:ext cx="2989659" cy="3587591"/>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312" tIns="0" rIns="295312" bIns="330200" numCol="1" spcCol="1270" anchor="t" anchorCtr="0">
          <a:noAutofit/>
        </a:bodyPr>
        <a:lstStyle/>
        <a:p>
          <a:pPr marL="0" lvl="0" indent="0" algn="l" defTabSz="666750">
            <a:lnSpc>
              <a:spcPct val="90000"/>
            </a:lnSpc>
            <a:spcBef>
              <a:spcPct val="0"/>
            </a:spcBef>
            <a:spcAft>
              <a:spcPct val="35000"/>
            </a:spcAft>
            <a:buNone/>
          </a:pPr>
          <a:r>
            <a:rPr lang="en-US" sz="1500" kern="1200" dirty="0"/>
            <a:t>Given the COVID-19 pandemics increased emphasis on vaccination safety and the continued need for efficient, secure immunization protocols, this research is especially pertinent.</a:t>
          </a:r>
        </a:p>
      </dsp:txBody>
      <dsp:txXfrm>
        <a:off x="6458402" y="1592315"/>
        <a:ext cx="2989659" cy="2152554"/>
      </dsp:txXfrm>
    </dsp:sp>
    <dsp:sp modelId="{0D83AFDC-0F0D-478B-BE00-6D869DCFE28F}">
      <dsp:nvSpPr>
        <dsp:cNvPr id="0" name=""/>
        <dsp:cNvSpPr/>
      </dsp:nvSpPr>
      <dsp:spPr>
        <a:xfrm>
          <a:off x="6458402" y="157279"/>
          <a:ext cx="2989659" cy="143503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95312" tIns="165100" rIns="295312"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6458402" y="157279"/>
        <a:ext cx="2989659" cy="14350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67592-916F-4126-9836-3E9C846EE8E4}">
      <dsp:nvSpPr>
        <dsp:cNvPr id="0" name=""/>
        <dsp:cNvSpPr/>
      </dsp:nvSpPr>
      <dsp:spPr>
        <a:xfrm>
          <a:off x="142002" y="1329868"/>
          <a:ext cx="1299614" cy="129961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A711C0-2004-48EC-BCAA-13FA4835A1C9}">
      <dsp:nvSpPr>
        <dsp:cNvPr id="0" name=""/>
        <dsp:cNvSpPr/>
      </dsp:nvSpPr>
      <dsp:spPr>
        <a:xfrm>
          <a:off x="414921" y="1602787"/>
          <a:ext cx="753776" cy="7537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F9B8C5-0623-4550-B1B4-67BC8EB594E7}">
      <dsp:nvSpPr>
        <dsp:cNvPr id="0" name=""/>
        <dsp:cNvSpPr/>
      </dsp:nvSpPr>
      <dsp:spPr>
        <a:xfrm>
          <a:off x="1720105" y="1329868"/>
          <a:ext cx="3063376" cy="1299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Based on patient demographics, medical history, and symptoms, is it possible to anticipate if a vaccine would result in a serious adverse event.</a:t>
          </a:r>
        </a:p>
      </dsp:txBody>
      <dsp:txXfrm>
        <a:off x="1720105" y="1329868"/>
        <a:ext cx="3063376" cy="1299614"/>
      </dsp:txXfrm>
    </dsp:sp>
    <dsp:sp modelId="{B33AFFC6-ED7A-46CA-9A9E-E9D2CE239F03}">
      <dsp:nvSpPr>
        <dsp:cNvPr id="0" name=""/>
        <dsp:cNvSpPr/>
      </dsp:nvSpPr>
      <dsp:spPr>
        <a:xfrm>
          <a:off x="5317251" y="1329868"/>
          <a:ext cx="1299614" cy="129961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637DDC-FBEF-49E4-9CAA-9734D2237A3B}">
      <dsp:nvSpPr>
        <dsp:cNvPr id="0" name=""/>
        <dsp:cNvSpPr/>
      </dsp:nvSpPr>
      <dsp:spPr>
        <a:xfrm>
          <a:off x="5590170" y="1602787"/>
          <a:ext cx="753776" cy="7537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99B255-C0BE-4E2E-8365-36122805C339}">
      <dsp:nvSpPr>
        <dsp:cNvPr id="0" name=""/>
        <dsp:cNvSpPr/>
      </dsp:nvSpPr>
      <dsp:spPr>
        <a:xfrm>
          <a:off x="6895354" y="1329868"/>
          <a:ext cx="3063376" cy="1299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Machine learning algorithms can be used to forecast which vaccines are more likely to cause major adverse responses in people with particular features.</a:t>
          </a:r>
        </a:p>
      </dsp:txBody>
      <dsp:txXfrm>
        <a:off x="6895354" y="1329868"/>
        <a:ext cx="3063376" cy="129961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Wednesday, September 17, 2025</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676944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Wednesday, September 17, 2025</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506778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Wednesday, September 17, 2025</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401509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Wednesday, September 17, 2025</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029129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Wednesday, September 17, 2025</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9122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Wednesday, September 17, 2025</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234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Wednesday, September 17, 2025</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772230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Wednesday, September 17, 2025</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50448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Wednesday, September 17, 2025</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759900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Wednesday, September 17, 2025</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41768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Wednesday, September 17, 2025</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635415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900" cap="all" spc="300" baseline="0">
                <a:solidFill>
                  <a:srgbClr val="FFFFFF"/>
                </a:solidFill>
              </a:defRPr>
            </a:lvl1pPr>
          </a:lstStyle>
          <a:p>
            <a:fld id="{AE0C963C-C1DB-4AFD-9DDC-0691666BF49B}" type="datetime2">
              <a:rPr lang="en-US" smtClean="0"/>
              <a:pPr/>
              <a:t>Wednesday, September 17, 2025</a:t>
            </a:fld>
            <a:endParaRPr lang="en-US" cap="all"/>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9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900">
                <a:solidFill>
                  <a:srgbClr val="FFFFFF"/>
                </a:solidFill>
              </a:defRPr>
            </a:lvl1pPr>
          </a:lstStyle>
          <a:p>
            <a:fld id="{C01389E6-C847-4AD0-B56D-D205B2EAB1EE}" type="slidenum">
              <a:rPr lang="en-US" smtClean="0"/>
              <a:pPr/>
              <a:t>‹#›</a:t>
            </a:fld>
            <a:endParaRPr lang="en-US" sz="800"/>
          </a:p>
        </p:txBody>
      </p:sp>
    </p:spTree>
    <p:extLst>
      <p:ext uri="{BB962C8B-B14F-4D97-AF65-F5344CB8AC3E}">
        <p14:creationId xmlns:p14="http://schemas.microsoft.com/office/powerpoint/2010/main" val="43362485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ri-nadella/Team_H_606_Project_VAERS"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vaers.hhs.gov/data/datasets.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ACE9E2ED-2BB1-46AE-A037-86EC1BF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73A563-3D4F-19D6-F4CE-2B393FFBE5D6}"/>
              </a:ext>
            </a:extLst>
          </p:cNvPr>
          <p:cNvSpPr>
            <a:spLocks noGrp="1"/>
          </p:cNvSpPr>
          <p:nvPr>
            <p:ph type="ctrTitle"/>
          </p:nvPr>
        </p:nvSpPr>
        <p:spPr>
          <a:xfrm>
            <a:off x="457200" y="643189"/>
            <a:ext cx="5972629" cy="2947210"/>
          </a:xfrm>
        </p:spPr>
        <p:txBody>
          <a:bodyPr anchor="t">
            <a:noAutofit/>
          </a:bodyPr>
          <a:lstStyle/>
          <a:p>
            <a:pPr algn="l">
              <a:lnSpc>
                <a:spcPct val="90000"/>
              </a:lnSpc>
            </a:pPr>
            <a:r>
              <a:rPr lang="en-US" b="1" dirty="0" err="1"/>
              <a:t>VaCCINE</a:t>
            </a:r>
            <a:r>
              <a:rPr lang="en-US" b="1" dirty="0"/>
              <a:t> RISK</a:t>
            </a:r>
            <a:br>
              <a:rPr lang="en-US" b="1" dirty="0"/>
            </a:br>
            <a:r>
              <a:rPr lang="en-US" b="1" dirty="0"/>
              <a:t>Analysis of VAERS Reports for Vaccine Safety Assessment</a:t>
            </a:r>
          </a:p>
        </p:txBody>
      </p:sp>
      <p:sp>
        <p:nvSpPr>
          <p:cNvPr id="42" name="Rectangle 41">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7" y="-3"/>
            <a:ext cx="3611463" cy="6858000"/>
          </a:xfrm>
          <a:prstGeom prst="rect">
            <a:avLst/>
          </a:prstGeom>
          <a:gradFill>
            <a:gsLst>
              <a:gs pos="0">
                <a:schemeClr val="accent5">
                  <a:alpha val="77000"/>
                </a:schemeClr>
              </a:gs>
              <a:gs pos="100000">
                <a:schemeClr val="tx2">
                  <a:lumMod val="50000"/>
                  <a:lumOff val="50000"/>
                  <a:alpha val="52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4068664" cy="6858000"/>
          </a:xfrm>
          <a:prstGeom prst="rect">
            <a:avLst/>
          </a:prstGeom>
          <a:gradFill>
            <a:gsLst>
              <a:gs pos="22000">
                <a:schemeClr val="accent2">
                  <a:alpha val="69000"/>
                </a:schemeClr>
              </a:gs>
              <a:gs pos="99000">
                <a:schemeClr val="accent4">
                  <a:alpha val="74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426853" y="-345671"/>
            <a:ext cx="3429002" cy="4120348"/>
          </a:xfrm>
          <a:prstGeom prst="rect">
            <a:avLst/>
          </a:prstGeom>
          <a:gradFill>
            <a:gsLst>
              <a:gs pos="0">
                <a:schemeClr val="accent5">
                  <a:alpha val="26000"/>
                </a:schemeClr>
              </a:gs>
              <a:gs pos="49000">
                <a:schemeClr val="tx2">
                  <a:lumMod val="75000"/>
                  <a:lumOff val="25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edle and vial">
            <a:extLst>
              <a:ext uri="{FF2B5EF4-FFF2-40B4-BE49-F238E27FC236}">
                <a16:creationId xmlns:a16="http://schemas.microsoft.com/office/drawing/2014/main" id="{B977E403-1736-F541-715C-65EA6DDFC92B}"/>
              </a:ext>
            </a:extLst>
          </p:cNvPr>
          <p:cNvPicPr>
            <a:picLocks noChangeAspect="1"/>
          </p:cNvPicPr>
          <p:nvPr/>
        </p:nvPicPr>
        <p:blipFill>
          <a:blip r:embed="rId2"/>
          <a:srcRect l="20109" r="13140" b="-2"/>
          <a:stretch/>
        </p:blipFill>
        <p:spPr>
          <a:xfrm>
            <a:off x="6096000" y="1012536"/>
            <a:ext cx="4756162" cy="4756162"/>
          </a:xfrm>
          <a:custGeom>
            <a:avLst/>
            <a:gdLst/>
            <a:ahLst/>
            <a:cxnLst/>
            <a:rect l="l" t="t" r="r" b="b"/>
            <a:pathLst>
              <a:path w="5031136" h="5031136">
                <a:moveTo>
                  <a:pt x="2515568" y="0"/>
                </a:moveTo>
                <a:cubicBezTo>
                  <a:pt x="3904878" y="0"/>
                  <a:pt x="5031136" y="1126258"/>
                  <a:pt x="5031136" y="2515568"/>
                </a:cubicBezTo>
                <a:cubicBezTo>
                  <a:pt x="5031136" y="3904878"/>
                  <a:pt x="3904878" y="5031136"/>
                  <a:pt x="2515568" y="5031136"/>
                </a:cubicBezTo>
                <a:cubicBezTo>
                  <a:pt x="1126258" y="5031136"/>
                  <a:pt x="0" y="3904878"/>
                  <a:pt x="0" y="2515568"/>
                </a:cubicBezTo>
                <a:cubicBezTo>
                  <a:pt x="0" y="1126258"/>
                  <a:pt x="1126258" y="0"/>
                  <a:pt x="2515568" y="0"/>
                </a:cubicBezTo>
                <a:close/>
              </a:path>
            </a:pathLst>
          </a:custGeom>
        </p:spPr>
      </p:pic>
      <p:cxnSp>
        <p:nvCxnSpPr>
          <p:cNvPr id="6" name="Straight Connector 5">
            <a:extLst>
              <a:ext uri="{FF2B5EF4-FFF2-40B4-BE49-F238E27FC236}">
                <a16:creationId xmlns:a16="http://schemas.microsoft.com/office/drawing/2014/main" id="{738E9DD3-CDB4-1E02-1C89-28A8BD7E87A1}"/>
              </a:ext>
            </a:extLst>
          </p:cNvPr>
          <p:cNvCxnSpPr/>
          <p:nvPr/>
        </p:nvCxnSpPr>
        <p:spPr>
          <a:xfrm>
            <a:off x="142040" y="5358174"/>
            <a:ext cx="5261429" cy="0"/>
          </a:xfrm>
          <a:prstGeom prst="line">
            <a:avLst/>
          </a:prstGeom>
        </p:spPr>
        <p:style>
          <a:lnRef idx="3">
            <a:schemeClr val="accent1"/>
          </a:lnRef>
          <a:fillRef idx="0">
            <a:schemeClr val="accent1"/>
          </a:fillRef>
          <a:effectRef idx="2">
            <a:schemeClr val="accent1"/>
          </a:effectRef>
          <a:fontRef idx="minor">
            <a:schemeClr val="tx1"/>
          </a:fontRef>
        </p:style>
      </p:cxnSp>
      <p:sp>
        <p:nvSpPr>
          <p:cNvPr id="8" name="TextBox 7">
            <a:extLst>
              <a:ext uri="{FF2B5EF4-FFF2-40B4-BE49-F238E27FC236}">
                <a16:creationId xmlns:a16="http://schemas.microsoft.com/office/drawing/2014/main" id="{F75C8860-0566-E292-C992-B20A2877A2B2}"/>
              </a:ext>
            </a:extLst>
          </p:cNvPr>
          <p:cNvSpPr txBox="1"/>
          <p:nvPr/>
        </p:nvSpPr>
        <p:spPr>
          <a:xfrm>
            <a:off x="308101" y="5513041"/>
            <a:ext cx="6121728" cy="1200329"/>
          </a:xfrm>
          <a:prstGeom prst="rect">
            <a:avLst/>
          </a:prstGeom>
          <a:noFill/>
        </p:spPr>
        <p:txBody>
          <a:bodyPr wrap="square">
            <a:spAutoFit/>
          </a:bodyPr>
          <a:lstStyle/>
          <a:p>
            <a:r>
              <a:rPr lang="en-US" dirty="0">
                <a:solidFill>
                  <a:schemeClr val="accent2">
                    <a:lumMod val="75000"/>
                  </a:schemeClr>
                </a:solidFill>
                <a:latin typeface="Calibri"/>
                <a:ea typeface="Calibri"/>
                <a:cs typeface="Calibri"/>
              </a:rPr>
              <a:t>TEAM-H </a:t>
            </a:r>
          </a:p>
          <a:p>
            <a:r>
              <a:rPr lang="en-US" dirty="0">
                <a:solidFill>
                  <a:schemeClr val="accent2">
                    <a:lumMod val="75000"/>
                  </a:schemeClr>
                </a:solidFill>
                <a:latin typeface="Calibri"/>
                <a:ea typeface="Calibri"/>
                <a:cs typeface="Calibri"/>
              </a:rPr>
              <a:t>Sri Spoorthy Nadella</a:t>
            </a:r>
          </a:p>
          <a:p>
            <a:r>
              <a:rPr lang="en-US" dirty="0">
                <a:solidFill>
                  <a:schemeClr val="accent2">
                    <a:lumMod val="75000"/>
                  </a:schemeClr>
                </a:solidFill>
                <a:latin typeface="Calibri"/>
                <a:ea typeface="Calibri"/>
                <a:cs typeface="Calibri"/>
              </a:rPr>
              <a:t>Sarath Chandra </a:t>
            </a:r>
            <a:r>
              <a:rPr lang="en-US" dirty="0" err="1">
                <a:solidFill>
                  <a:schemeClr val="accent2">
                    <a:lumMod val="75000"/>
                  </a:schemeClr>
                </a:solidFill>
                <a:latin typeface="Calibri"/>
                <a:ea typeface="Calibri"/>
                <a:cs typeface="Calibri"/>
              </a:rPr>
              <a:t>Vundavalli</a:t>
            </a:r>
            <a:r>
              <a:rPr lang="en-US" dirty="0">
                <a:solidFill>
                  <a:schemeClr val="accent2">
                    <a:lumMod val="75000"/>
                  </a:schemeClr>
                </a:solidFill>
                <a:latin typeface="Calibri"/>
                <a:ea typeface="Calibri"/>
                <a:cs typeface="Calibri"/>
              </a:rPr>
              <a:t> </a:t>
            </a:r>
          </a:p>
          <a:p>
            <a:r>
              <a:rPr lang="en-US" dirty="0">
                <a:solidFill>
                  <a:schemeClr val="accent2">
                    <a:lumMod val="75000"/>
                  </a:schemeClr>
                </a:solidFill>
                <a:latin typeface="Calibri"/>
                <a:ea typeface="Calibri"/>
                <a:cs typeface="Calibri"/>
              </a:rPr>
              <a:t>Sree Sai Sankalp </a:t>
            </a:r>
            <a:r>
              <a:rPr lang="en-US" dirty="0" err="1">
                <a:solidFill>
                  <a:schemeClr val="accent2">
                    <a:lumMod val="75000"/>
                  </a:schemeClr>
                </a:solidFill>
                <a:latin typeface="Calibri"/>
                <a:ea typeface="Calibri"/>
                <a:cs typeface="Calibri"/>
              </a:rPr>
              <a:t>Jagadam</a:t>
            </a:r>
            <a:endParaRPr lang="en-US" dirty="0">
              <a:solidFill>
                <a:schemeClr val="accent2">
                  <a:lumMod val="75000"/>
                </a:schemeClr>
              </a:solidFill>
              <a:latin typeface="Calibri"/>
              <a:ea typeface="Calibri"/>
              <a:cs typeface="Calibri"/>
            </a:endParaRPr>
          </a:p>
        </p:txBody>
      </p:sp>
      <p:sp>
        <p:nvSpPr>
          <p:cNvPr id="12" name="TextBox 11">
            <a:extLst>
              <a:ext uri="{FF2B5EF4-FFF2-40B4-BE49-F238E27FC236}">
                <a16:creationId xmlns:a16="http://schemas.microsoft.com/office/drawing/2014/main" id="{F192E211-5358-7A26-60AB-402853CDAB8A}"/>
              </a:ext>
            </a:extLst>
          </p:cNvPr>
          <p:cNvSpPr txBox="1"/>
          <p:nvPr/>
        </p:nvSpPr>
        <p:spPr>
          <a:xfrm>
            <a:off x="141187" y="4037277"/>
            <a:ext cx="8411142" cy="1200329"/>
          </a:xfrm>
          <a:prstGeom prst="rect">
            <a:avLst/>
          </a:prstGeom>
          <a:noFill/>
        </p:spPr>
        <p:txBody>
          <a:bodyPr wrap="square">
            <a:spAutoFit/>
          </a:bodyPr>
          <a:lstStyle/>
          <a:p>
            <a:pPr marL="114300" indent="0">
              <a:buNone/>
            </a:pPr>
            <a:r>
              <a:rPr lang="en-US" dirty="0">
                <a:solidFill>
                  <a:schemeClr val="accent2">
                    <a:lumMod val="75000"/>
                  </a:schemeClr>
                </a:solidFill>
              </a:rPr>
              <a:t>DATA 606 Capstone in Data Science</a:t>
            </a:r>
          </a:p>
          <a:p>
            <a:pPr marL="114300" indent="0">
              <a:buNone/>
            </a:pPr>
            <a:r>
              <a:rPr lang="en-US" dirty="0">
                <a:solidFill>
                  <a:schemeClr val="accent2">
                    <a:lumMod val="75000"/>
                  </a:schemeClr>
                </a:solidFill>
              </a:rPr>
              <a:t>Under the guidance: Unal </a:t>
            </a:r>
            <a:r>
              <a:rPr lang="en-US" dirty="0" err="1">
                <a:solidFill>
                  <a:schemeClr val="accent2">
                    <a:lumMod val="75000"/>
                  </a:schemeClr>
                </a:solidFill>
              </a:rPr>
              <a:t>Sakoglu</a:t>
            </a:r>
            <a:endParaRPr lang="en-US" dirty="0">
              <a:solidFill>
                <a:schemeClr val="accent2">
                  <a:lumMod val="75000"/>
                </a:schemeClr>
              </a:solidFill>
            </a:endParaRPr>
          </a:p>
          <a:p>
            <a:pPr marL="114300" indent="0">
              <a:buNone/>
            </a:pPr>
            <a:r>
              <a:rPr lang="en-US" dirty="0" err="1">
                <a:solidFill>
                  <a:schemeClr val="accent2">
                    <a:lumMod val="75000"/>
                  </a:schemeClr>
                </a:solidFill>
              </a:rPr>
              <a:t>Github</a:t>
            </a:r>
            <a:r>
              <a:rPr lang="en-US" dirty="0">
                <a:solidFill>
                  <a:schemeClr val="accent2">
                    <a:lumMod val="75000"/>
                  </a:schemeClr>
                </a:solidFill>
              </a:rPr>
              <a:t> Link: </a:t>
            </a:r>
            <a:r>
              <a:rPr lang="en-US" dirty="0">
                <a:solidFill>
                  <a:schemeClr val="accent2">
                    <a:lumMod val="75000"/>
                  </a:schemeClr>
                </a:solidFill>
                <a:hlinkClick r:id="rId3"/>
              </a:rPr>
              <a:t>https://github.com/sri-nadella/Team_H_606_Project_VAERS</a:t>
            </a:r>
            <a:endParaRPr lang="en-US" dirty="0">
              <a:solidFill>
                <a:schemeClr val="accent2">
                  <a:lumMod val="75000"/>
                </a:schemeClr>
              </a:solidFill>
            </a:endParaRPr>
          </a:p>
          <a:p>
            <a:pPr marL="114300" indent="0">
              <a:buNone/>
            </a:pPr>
            <a:endParaRPr lang="en-US" dirty="0">
              <a:solidFill>
                <a:schemeClr val="accent2">
                  <a:lumMod val="75000"/>
                </a:schemeClr>
              </a:solidFill>
            </a:endParaRPr>
          </a:p>
        </p:txBody>
      </p:sp>
    </p:spTree>
    <p:extLst>
      <p:ext uri="{BB962C8B-B14F-4D97-AF65-F5344CB8AC3E}">
        <p14:creationId xmlns:p14="http://schemas.microsoft.com/office/powerpoint/2010/main" val="1457252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643CFF5-3073-44B6-9A56-4CAF096FF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A5CEBC-3F8D-1837-D72D-271B4FB791FA}"/>
              </a:ext>
            </a:extLst>
          </p:cNvPr>
          <p:cNvSpPr>
            <a:spLocks noGrp="1"/>
          </p:cNvSpPr>
          <p:nvPr>
            <p:ph type="title"/>
          </p:nvPr>
        </p:nvSpPr>
        <p:spPr>
          <a:xfrm>
            <a:off x="1104207" y="-62753"/>
            <a:ext cx="5868785" cy="1556724"/>
          </a:xfrm>
        </p:spPr>
        <p:txBody>
          <a:bodyPr anchor="b">
            <a:normAutofit/>
          </a:bodyPr>
          <a:lstStyle/>
          <a:p>
            <a:r>
              <a:rPr lang="en" dirty="0"/>
              <a:t>TABLE OF CONTENTS</a:t>
            </a:r>
            <a:endParaRPr lang="en-US" dirty="0"/>
          </a:p>
        </p:txBody>
      </p:sp>
      <p:sp>
        <p:nvSpPr>
          <p:cNvPr id="3" name="Content Placeholder 2">
            <a:extLst>
              <a:ext uri="{FF2B5EF4-FFF2-40B4-BE49-F238E27FC236}">
                <a16:creationId xmlns:a16="http://schemas.microsoft.com/office/drawing/2014/main" id="{6965E6D4-D95E-4083-F44D-BD29B10D951B}"/>
              </a:ext>
            </a:extLst>
          </p:cNvPr>
          <p:cNvSpPr>
            <a:spLocks noGrp="1"/>
          </p:cNvSpPr>
          <p:nvPr>
            <p:ph idx="1"/>
          </p:nvPr>
        </p:nvSpPr>
        <p:spPr>
          <a:xfrm>
            <a:off x="1371600" y="1994566"/>
            <a:ext cx="5868785" cy="3327336"/>
          </a:xfrm>
        </p:spPr>
        <p:txBody>
          <a:bodyPr anchor="t">
            <a:normAutofit/>
          </a:bodyPr>
          <a:lstStyle/>
          <a:p>
            <a:pPr marL="457200" indent="-457200">
              <a:buAutoNum type="arabicPeriod"/>
            </a:pPr>
            <a:r>
              <a:rPr lang="en-US" sz="1800" dirty="0"/>
              <a:t>Overview</a:t>
            </a:r>
          </a:p>
          <a:p>
            <a:pPr marL="457200" indent="-457200">
              <a:buAutoNum type="arabicPeriod"/>
            </a:pPr>
            <a:r>
              <a:rPr lang="en-US" sz="1800" dirty="0"/>
              <a:t>Background </a:t>
            </a:r>
          </a:p>
          <a:p>
            <a:pPr marL="457200" indent="-457200">
              <a:buAutoNum type="arabicPeriod"/>
            </a:pPr>
            <a:r>
              <a:rPr lang="en-US" sz="1800" dirty="0"/>
              <a:t>Data Description</a:t>
            </a:r>
          </a:p>
          <a:p>
            <a:pPr marL="457200" indent="-457200">
              <a:buAutoNum type="arabicPeriod"/>
            </a:pPr>
            <a:r>
              <a:rPr lang="en-US" sz="1800" dirty="0"/>
              <a:t>Exploratory Data Analysis and Data engineering</a:t>
            </a:r>
          </a:p>
          <a:p>
            <a:pPr marL="457200" indent="-457200">
              <a:buAutoNum type="arabicPeriod"/>
            </a:pPr>
            <a:r>
              <a:rPr lang="en-US" sz="1800" dirty="0"/>
              <a:t>Project Scope</a:t>
            </a:r>
          </a:p>
          <a:p>
            <a:pPr marL="0" indent="0">
              <a:buNone/>
            </a:pPr>
            <a:endParaRPr lang="en-US" sz="1600" dirty="0"/>
          </a:p>
        </p:txBody>
      </p:sp>
      <p:pic>
        <p:nvPicPr>
          <p:cNvPr id="7" name="Graphic 6" descr="Check List">
            <a:extLst>
              <a:ext uri="{FF2B5EF4-FFF2-40B4-BE49-F238E27FC236}">
                <a16:creationId xmlns:a16="http://schemas.microsoft.com/office/drawing/2014/main" id="{48511B4D-22C5-166D-3F27-B140740980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97585" y="1028700"/>
            <a:ext cx="4037215" cy="4037215"/>
          </a:xfrm>
          <a:prstGeom prst="rect">
            <a:avLst/>
          </a:prstGeom>
        </p:spPr>
      </p:pic>
      <p:sp>
        <p:nvSpPr>
          <p:cNvPr id="21" name="Rectangle 20">
            <a:extLst>
              <a:ext uri="{FF2B5EF4-FFF2-40B4-BE49-F238E27FC236}">
                <a16:creationId xmlns:a16="http://schemas.microsoft.com/office/drawing/2014/main" id="{955DEFE8-24AF-47F7-B020-D4D76ABA1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391868"/>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3" name="Rectangle 22">
            <a:extLst>
              <a:ext uri="{FF2B5EF4-FFF2-40B4-BE49-F238E27FC236}">
                <a16:creationId xmlns:a16="http://schemas.microsoft.com/office/drawing/2014/main" id="{6EAE3873-25FC-4346-B1D5-82E5F9D953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391868"/>
            <a:ext cx="8153398" cy="456772"/>
          </a:xfrm>
          <a:prstGeom prst="rect">
            <a:avLst/>
          </a:prstGeom>
          <a:gradFill>
            <a:gsLst>
              <a:gs pos="9000">
                <a:schemeClr val="accent2">
                  <a:lumMod val="60000"/>
                  <a:lumOff val="40000"/>
                  <a:alpha val="67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445476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2E919-8FEB-0612-305D-6DE650D68994}"/>
              </a:ext>
            </a:extLst>
          </p:cNvPr>
          <p:cNvSpPr>
            <a:spLocks noGrp="1"/>
          </p:cNvSpPr>
          <p:nvPr>
            <p:ph type="title"/>
          </p:nvPr>
        </p:nvSpPr>
        <p:spPr>
          <a:xfrm>
            <a:off x="383139" y="-620309"/>
            <a:ext cx="5929422" cy="1852976"/>
          </a:xfrm>
        </p:spPr>
        <p:txBody>
          <a:bodyPr>
            <a:normAutofit/>
          </a:bodyPr>
          <a:lstStyle/>
          <a:p>
            <a:r>
              <a:rPr lang="en-US" dirty="0"/>
              <a:t>OVERVIEW</a:t>
            </a:r>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harmaceutical research lab">
            <a:extLst>
              <a:ext uri="{FF2B5EF4-FFF2-40B4-BE49-F238E27FC236}">
                <a16:creationId xmlns:a16="http://schemas.microsoft.com/office/drawing/2014/main" id="{460EF169-7D7A-081C-5B83-3FBC31AC1064}"/>
              </a:ext>
            </a:extLst>
          </p:cNvPr>
          <p:cNvPicPr>
            <a:picLocks noChangeAspect="1"/>
          </p:cNvPicPr>
          <p:nvPr/>
        </p:nvPicPr>
        <p:blipFill>
          <a:blip r:embed="rId2"/>
          <a:srcRect l="31345" r="21019" b="-2"/>
          <a:stretch/>
        </p:blipFill>
        <p:spPr>
          <a:xfrm>
            <a:off x="8115300" y="-12515"/>
            <a:ext cx="4076700" cy="6418631"/>
          </a:xfrm>
          <a:prstGeom prst="rect">
            <a:avLst/>
          </a:prstGeom>
        </p:spPr>
      </p:pic>
      <p:sp>
        <p:nvSpPr>
          <p:cNvPr id="14" name="Rectangle 3">
            <a:extLst>
              <a:ext uri="{FF2B5EF4-FFF2-40B4-BE49-F238E27FC236}">
                <a16:creationId xmlns:a16="http://schemas.microsoft.com/office/drawing/2014/main" id="{DB59AEE4-C083-CEF5-DBBF-D1454D62BBAD}"/>
              </a:ext>
            </a:extLst>
          </p:cNvPr>
          <p:cNvSpPr>
            <a:spLocks noGrp="1" noChangeArrowheads="1"/>
          </p:cNvSpPr>
          <p:nvPr>
            <p:ph idx="1"/>
          </p:nvPr>
        </p:nvSpPr>
        <p:spPr bwMode="auto">
          <a:xfrm>
            <a:off x="293297" y="1450155"/>
            <a:ext cx="833075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Our study uses data from the Vaccine Adverse Event Reporting System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(VAERS)</a:t>
            </a: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to assess and forecast Adverse Events (AEs) related to vaccines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 an era of increased focus on public health and vaccine safety.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Our main objectives are to build a tool to assist users in evaluating the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safety of vaccines and a model that forecasts the risk of adverse events. </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Adverse Events (AEs): What Are They? Any negative or unexpected result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that follows medical treatment, including vaccination, is referred to as an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adverse event.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AEs can be as minor as injection site pain or as serious as anaphylaxis.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p:txBody>
      </p:sp>
    </p:spTree>
    <p:extLst>
      <p:ext uri="{BB962C8B-B14F-4D97-AF65-F5344CB8AC3E}">
        <p14:creationId xmlns:p14="http://schemas.microsoft.com/office/powerpoint/2010/main" val="3583721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D8FAF097-5073-4347-985F-3B9C1042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DE622D-384A-21DE-CAA7-235679069378}"/>
              </a:ext>
            </a:extLst>
          </p:cNvPr>
          <p:cNvSpPr>
            <a:spLocks noGrp="1"/>
          </p:cNvSpPr>
          <p:nvPr>
            <p:ph type="title"/>
          </p:nvPr>
        </p:nvSpPr>
        <p:spPr>
          <a:xfrm>
            <a:off x="1371599" y="474031"/>
            <a:ext cx="9448801" cy="1003895"/>
          </a:xfrm>
        </p:spPr>
        <p:txBody>
          <a:bodyPr anchor="b">
            <a:normAutofit/>
          </a:bodyPr>
          <a:lstStyle/>
          <a:p>
            <a:r>
              <a:rPr lang="en-US" dirty="0"/>
              <a:t>Project Rationale</a:t>
            </a:r>
          </a:p>
        </p:txBody>
      </p:sp>
      <p:sp>
        <p:nvSpPr>
          <p:cNvPr id="45" name="Rectangle 44">
            <a:extLst>
              <a:ext uri="{FF2B5EF4-FFF2-40B4-BE49-F238E27FC236}">
                <a16:creationId xmlns:a16="http://schemas.microsoft.com/office/drawing/2014/main" id="{445029C0-7C9E-4B38-AF9F-4F41075F64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22416BE-CA7D-4941-954A-840BCE5B8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Content Placeholder 2">
            <a:extLst>
              <a:ext uri="{FF2B5EF4-FFF2-40B4-BE49-F238E27FC236}">
                <a16:creationId xmlns:a16="http://schemas.microsoft.com/office/drawing/2014/main" id="{9F4E1C78-E2DD-551C-9EA9-C827AE05F87D}"/>
              </a:ext>
            </a:extLst>
          </p:cNvPr>
          <p:cNvGraphicFramePr>
            <a:graphicFrameLocks noGrp="1"/>
          </p:cNvGraphicFramePr>
          <p:nvPr>
            <p:ph idx="1"/>
            <p:extLst>
              <p:ext uri="{D42A27DB-BD31-4B8C-83A1-F6EECF244321}">
                <p14:modId xmlns:p14="http://schemas.microsoft.com/office/powerpoint/2010/main" val="410818268"/>
              </p:ext>
            </p:extLst>
          </p:nvPr>
        </p:nvGraphicFramePr>
        <p:xfrm>
          <a:off x="1371600" y="1913860"/>
          <a:ext cx="9448800" cy="3902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1541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8CBC5F-6D88-8B2B-1BA6-187486DC22C4}"/>
              </a:ext>
            </a:extLst>
          </p:cNvPr>
          <p:cNvSpPr>
            <a:spLocks noGrp="1"/>
          </p:cNvSpPr>
          <p:nvPr>
            <p:ph type="title"/>
          </p:nvPr>
        </p:nvSpPr>
        <p:spPr>
          <a:xfrm>
            <a:off x="1093345" y="598305"/>
            <a:ext cx="10241280" cy="1234440"/>
          </a:xfrm>
        </p:spPr>
        <p:txBody>
          <a:bodyPr/>
          <a:lstStyle/>
          <a:p>
            <a:r>
              <a:rPr lang="en-US" dirty="0"/>
              <a:t>Research Question and Hypothesis</a:t>
            </a:r>
          </a:p>
        </p:txBody>
      </p:sp>
      <p:graphicFrame>
        <p:nvGraphicFramePr>
          <p:cNvPr id="11" name="Content Placeholder 6">
            <a:extLst>
              <a:ext uri="{FF2B5EF4-FFF2-40B4-BE49-F238E27FC236}">
                <a16:creationId xmlns:a16="http://schemas.microsoft.com/office/drawing/2014/main" id="{98D0AD93-5B8B-9666-0B44-13B0EBC539D6}"/>
              </a:ext>
            </a:extLst>
          </p:cNvPr>
          <p:cNvGraphicFramePr>
            <a:graphicFrameLocks noGrp="1"/>
          </p:cNvGraphicFramePr>
          <p:nvPr>
            <p:ph sz="half" idx="1"/>
            <p:extLst>
              <p:ext uri="{D42A27DB-BD31-4B8C-83A1-F6EECF244321}">
                <p14:modId xmlns:p14="http://schemas.microsoft.com/office/powerpoint/2010/main" val="1925160779"/>
              </p:ext>
            </p:extLst>
          </p:nvPr>
        </p:nvGraphicFramePr>
        <p:xfrm>
          <a:off x="857375" y="1449324"/>
          <a:ext cx="10100733" cy="3959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4073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3CBB9B1-7B7D-4BA1-A1AF-572168B395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DB36978-70AD-9E44-204B-40DF5A1C2F9D}"/>
              </a:ext>
            </a:extLst>
          </p:cNvPr>
          <p:cNvSpPr>
            <a:spLocks noGrp="1"/>
          </p:cNvSpPr>
          <p:nvPr>
            <p:ph type="title"/>
          </p:nvPr>
        </p:nvSpPr>
        <p:spPr>
          <a:xfrm>
            <a:off x="8568795" y="588827"/>
            <a:ext cx="3757676" cy="1181154"/>
          </a:xfrm>
        </p:spPr>
        <p:txBody>
          <a:bodyPr anchor="b">
            <a:normAutofit fontScale="90000"/>
          </a:bodyPr>
          <a:lstStyle/>
          <a:p>
            <a:r>
              <a:rPr lang="en-US" sz="2800" dirty="0"/>
              <a:t>Motivation Behind the study</a:t>
            </a:r>
          </a:p>
        </p:txBody>
      </p:sp>
      <p:pic>
        <p:nvPicPr>
          <p:cNvPr id="7" name="Picture 6" descr="Line of vials">
            <a:extLst>
              <a:ext uri="{FF2B5EF4-FFF2-40B4-BE49-F238E27FC236}">
                <a16:creationId xmlns:a16="http://schemas.microsoft.com/office/drawing/2014/main" id="{37D3D61A-1F7F-17ED-55F1-C30A91A281E4}"/>
              </a:ext>
            </a:extLst>
          </p:cNvPr>
          <p:cNvPicPr>
            <a:picLocks noChangeAspect="1"/>
          </p:cNvPicPr>
          <p:nvPr/>
        </p:nvPicPr>
        <p:blipFill>
          <a:blip r:embed="rId2"/>
          <a:srcRect l="15470" r="-1" b="-1"/>
          <a:stretch/>
        </p:blipFill>
        <p:spPr>
          <a:xfrm>
            <a:off x="247677" y="588827"/>
            <a:ext cx="8115280" cy="6408311"/>
          </a:xfrm>
          <a:prstGeom prst="rect">
            <a:avLst/>
          </a:prstGeom>
        </p:spPr>
      </p:pic>
      <p:sp>
        <p:nvSpPr>
          <p:cNvPr id="5" name="Content Placeholder 4">
            <a:extLst>
              <a:ext uri="{FF2B5EF4-FFF2-40B4-BE49-F238E27FC236}">
                <a16:creationId xmlns:a16="http://schemas.microsoft.com/office/drawing/2014/main" id="{70B52DC4-C2B7-8514-84FB-33284E1DCCDB}"/>
              </a:ext>
            </a:extLst>
          </p:cNvPr>
          <p:cNvSpPr>
            <a:spLocks noGrp="1"/>
          </p:cNvSpPr>
          <p:nvPr>
            <p:ph idx="1"/>
          </p:nvPr>
        </p:nvSpPr>
        <p:spPr>
          <a:xfrm>
            <a:off x="8610634" y="1965771"/>
            <a:ext cx="3581363" cy="4040581"/>
          </a:xfrm>
        </p:spPr>
        <p:txBody>
          <a:bodyPr>
            <a:normAutofit/>
          </a:bodyPr>
          <a:lstStyle/>
          <a:p>
            <a:pPr marL="0" indent="0">
              <a:lnSpc>
                <a:spcPct val="110000"/>
              </a:lnSpc>
              <a:buNone/>
            </a:pPr>
            <a:r>
              <a:rPr lang="en-US" sz="1600" dirty="0">
                <a:latin typeface="var(--font-fk-grotesk-neue)"/>
              </a:rPr>
              <a:t>There have been over a million COVID-19 vaccine-related injuries reported, underscoring the necessity of determining the causes of unfavorable results. </a:t>
            </a:r>
          </a:p>
          <a:p>
            <a:pPr marL="0" indent="0">
              <a:lnSpc>
                <a:spcPct val="110000"/>
              </a:lnSpc>
              <a:buNone/>
            </a:pPr>
            <a:r>
              <a:rPr lang="en-US" altLang="en-US" sz="1600" dirty="0">
                <a:latin typeface="__fkGroteskNeue_598ab8"/>
              </a:rPr>
              <a:t>Even though they are uncommon, serious adverse events (AEs) might result in life-threatening complications, severe allergic responses, and seizures</a:t>
            </a:r>
            <a:r>
              <a:rPr lang="en-US" altLang="en-US" sz="1600" dirty="0">
                <a:latin typeface="Arial" panose="020B0604020202020204" pitchFamily="34" charset="0"/>
              </a:rPr>
              <a:t>.</a:t>
            </a:r>
            <a:endParaRPr lang="en-US" sz="1600" dirty="0">
              <a:latin typeface="var(--font-fk-grotesk-neue)"/>
            </a:endParaRPr>
          </a:p>
          <a:p>
            <a:pPr marL="0" indent="0">
              <a:lnSpc>
                <a:spcPct val="110000"/>
              </a:lnSpc>
              <a:buNone/>
            </a:pPr>
            <a:r>
              <a:rPr lang="en-US" altLang="en-US" sz="1600" dirty="0">
                <a:latin typeface="__fkGroteskNeue_598ab8"/>
              </a:rPr>
              <a:t>Higher instances of fainting were found during a CDC assessment into the Janssen vaccine, highlighting the significance of keeping an eye on vaccine users.</a:t>
            </a:r>
            <a:endParaRPr lang="en-US" sz="1600" dirty="0">
              <a:latin typeface="__fkGroteskNeue_598ab8"/>
            </a:endParaRPr>
          </a:p>
        </p:txBody>
      </p:sp>
      <p:sp>
        <p:nvSpPr>
          <p:cNvPr id="13" name="Rectangle 12">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49257"/>
          </a:xfrm>
          <a:prstGeom prst="rect">
            <a:avLst/>
          </a:prstGeom>
          <a:gradFill>
            <a:gsLst>
              <a:gs pos="34000">
                <a:schemeClr val="accent4">
                  <a:alpha val="73000"/>
                </a:schemeClr>
              </a:gs>
              <a:gs pos="100000">
                <a:schemeClr val="accent5">
                  <a:alpha val="89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8314"/>
            <a:ext cx="8115300" cy="449258"/>
          </a:xfrm>
          <a:prstGeom prst="rect">
            <a:avLst/>
          </a:prstGeom>
          <a:gradFill>
            <a:gsLst>
              <a:gs pos="22000">
                <a:schemeClr val="accent5">
                  <a:lumMod val="60000"/>
                  <a:lumOff val="40000"/>
                  <a:alpha val="55000"/>
                </a:schemeClr>
              </a:gs>
              <a:gs pos="99000">
                <a:schemeClr val="accent2"/>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7065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7989E4-1018-71FD-7A59-CEE5EA532B32}"/>
              </a:ext>
            </a:extLst>
          </p:cNvPr>
          <p:cNvSpPr>
            <a:spLocks noGrp="1"/>
          </p:cNvSpPr>
          <p:nvPr>
            <p:ph type="title"/>
          </p:nvPr>
        </p:nvSpPr>
        <p:spPr>
          <a:xfrm>
            <a:off x="1371601" y="457199"/>
            <a:ext cx="9448800" cy="1061357"/>
          </a:xfrm>
        </p:spPr>
        <p:txBody>
          <a:bodyPr>
            <a:normAutofit/>
          </a:bodyPr>
          <a:lstStyle/>
          <a:p>
            <a:pPr>
              <a:lnSpc>
                <a:spcPct val="90000"/>
              </a:lnSpc>
            </a:pPr>
            <a:r>
              <a:rPr lang="en-US" sz="3700"/>
              <a:t>Overview of similar </a:t>
            </a:r>
            <a:r>
              <a:rPr lang="en-US"/>
              <a:t>approaches</a:t>
            </a:r>
            <a:endParaRPr lang="en-US" sz="3700"/>
          </a:p>
        </p:txBody>
      </p:sp>
      <p:sp>
        <p:nvSpPr>
          <p:cNvPr id="28" name="Content Placeholder 2">
            <a:extLst>
              <a:ext uri="{FF2B5EF4-FFF2-40B4-BE49-F238E27FC236}">
                <a16:creationId xmlns:a16="http://schemas.microsoft.com/office/drawing/2014/main" id="{C534B2C0-7EF4-3924-5056-8FDD81C2FA7E}"/>
              </a:ext>
            </a:extLst>
          </p:cNvPr>
          <p:cNvSpPr>
            <a:spLocks noGrp="1"/>
          </p:cNvSpPr>
          <p:nvPr>
            <p:ph idx="1"/>
          </p:nvPr>
        </p:nvSpPr>
        <p:spPr>
          <a:xfrm>
            <a:off x="1371601" y="1887968"/>
            <a:ext cx="9448800" cy="3812746"/>
          </a:xfrm>
        </p:spPr>
        <p:txBody>
          <a:bodyPr>
            <a:normAutofit fontScale="92500"/>
          </a:bodyPr>
          <a:lstStyle/>
          <a:p>
            <a:pPr marL="342900" indent="-342900">
              <a:buAutoNum type="arabicPeriod"/>
            </a:pPr>
            <a:r>
              <a:rPr lang="en-US" altLang="en-US" sz="1800" b="1" dirty="0">
                <a:latin typeface="+mj-lt"/>
              </a:rPr>
              <a:t>State of Art:</a:t>
            </a:r>
          </a:p>
          <a:p>
            <a:pPr marL="0" indent="0">
              <a:buNone/>
            </a:pPr>
            <a:r>
              <a:rPr lang="en-US" altLang="en-US" sz="1800" dirty="0">
                <a:latin typeface="__fkGroteskNeue_598ab8"/>
              </a:rPr>
              <a:t> </a:t>
            </a:r>
            <a:r>
              <a:rPr lang="en-US" altLang="en-US" sz="1800" dirty="0"/>
              <a:t>A lot of study has been done on the safety of vaccines, with a particular emphasis on adverse events that have been recorded in the VAERS database. Most studies concentrate on a single vaccine or short-term adverse effects, but others have utilized machine learning to predict serious versus non-serious results. </a:t>
            </a:r>
            <a:br>
              <a:rPr lang="en-US" altLang="en-US" sz="1800" dirty="0"/>
            </a:br>
            <a:r>
              <a:rPr lang="en-US" altLang="en-US" sz="1800" dirty="0"/>
              <a:t>VAERS Monitoring Tools: To identify safety signals, the FDA and CDC now employ data mining techniques; however, these models are generic and not customized to the unique characteristics of each patient.</a:t>
            </a:r>
            <a:endParaRPr lang="en-US" sz="1800" b="0" i="0" dirty="0">
              <a:effectLst/>
            </a:endParaRPr>
          </a:p>
          <a:p>
            <a:pPr marL="0" indent="0">
              <a:buNone/>
            </a:pPr>
            <a:r>
              <a:rPr lang="en-US" sz="1800" b="1" i="0" dirty="0">
                <a:effectLst/>
              </a:rPr>
              <a:t>2. What’s Missing? </a:t>
            </a:r>
          </a:p>
          <a:p>
            <a:pPr marL="0" indent="0">
              <a:buNone/>
            </a:pPr>
            <a:r>
              <a:rPr lang="en-US" altLang="en-US" sz="1800" dirty="0"/>
              <a:t>Personalized Prediction: Based on a person's demographics and medical history, the majority of current methods do not customize forecasts for them. Predicting future dangers for people who are thinking about getting vaccinated is also not given enough attention.</a:t>
            </a:r>
            <a:endParaRPr lang="en-US" sz="1800" dirty="0"/>
          </a:p>
        </p:txBody>
      </p:sp>
      <p:sp>
        <p:nvSpPr>
          <p:cNvPr id="35" name="Rectangle 34">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8211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22B995-0500-8488-1A9E-E33147EE8450}"/>
              </a:ext>
            </a:extLst>
          </p:cNvPr>
          <p:cNvSpPr>
            <a:spLocks noGrp="1"/>
          </p:cNvSpPr>
          <p:nvPr>
            <p:ph type="title"/>
          </p:nvPr>
        </p:nvSpPr>
        <p:spPr>
          <a:xfrm>
            <a:off x="1380236" y="48919"/>
            <a:ext cx="8271764" cy="1229544"/>
          </a:xfrm>
        </p:spPr>
        <p:txBody>
          <a:bodyPr>
            <a:normAutofit/>
          </a:bodyPr>
          <a:lstStyle/>
          <a:p>
            <a:r>
              <a:rPr lang="en-US"/>
              <a:t>introduction</a:t>
            </a:r>
            <a:r>
              <a:rPr lang="en-US" sz="4000"/>
              <a:t> to Dataset</a:t>
            </a:r>
          </a:p>
        </p:txBody>
      </p:sp>
      <p:sp>
        <p:nvSpPr>
          <p:cNvPr id="3" name="Content Placeholder 2">
            <a:extLst>
              <a:ext uri="{FF2B5EF4-FFF2-40B4-BE49-F238E27FC236}">
                <a16:creationId xmlns:a16="http://schemas.microsoft.com/office/drawing/2014/main" id="{12E2129A-687B-2AD4-117D-ACF8E147D48A}"/>
              </a:ext>
            </a:extLst>
          </p:cNvPr>
          <p:cNvSpPr>
            <a:spLocks noGrp="1"/>
          </p:cNvSpPr>
          <p:nvPr>
            <p:ph idx="1"/>
          </p:nvPr>
        </p:nvSpPr>
        <p:spPr>
          <a:xfrm>
            <a:off x="1380236" y="1378595"/>
            <a:ext cx="9821163" cy="5258408"/>
          </a:xfrm>
        </p:spPr>
        <p:txBody>
          <a:bodyPr>
            <a:noAutofit/>
          </a:bodyPr>
          <a:lstStyle/>
          <a:p>
            <a:pPr>
              <a:lnSpc>
                <a:spcPct val="110000"/>
              </a:lnSpc>
            </a:pPr>
            <a:r>
              <a:rPr lang="en-US" sz="1600" b="1" dirty="0"/>
              <a:t>Data source</a:t>
            </a:r>
            <a:r>
              <a:rPr lang="en-US" sz="1600" dirty="0"/>
              <a:t>: </a:t>
            </a:r>
            <a:r>
              <a:rPr lang="en-US" sz="1600" dirty="0">
                <a:hlinkClick r:id="rId2"/>
              </a:rPr>
              <a:t>VAERS data link</a:t>
            </a:r>
            <a:endParaRPr lang="en-US" sz="1600" dirty="0"/>
          </a:p>
          <a:p>
            <a:pPr>
              <a:lnSpc>
                <a:spcPct val="110000"/>
              </a:lnSpc>
            </a:pPr>
            <a:r>
              <a:rPr lang="en-US" sz="1600" b="1" dirty="0"/>
              <a:t>Dataset characteristics</a:t>
            </a:r>
            <a:r>
              <a:rPr lang="en-US" sz="1600" dirty="0"/>
              <a:t>: </a:t>
            </a:r>
          </a:p>
          <a:p>
            <a:pPr marL="0" indent="0">
              <a:lnSpc>
                <a:spcPct val="110000"/>
              </a:lnSpc>
              <a:buNone/>
            </a:pPr>
            <a:r>
              <a:rPr lang="en-US" sz="1600" dirty="0"/>
              <a:t>It consists of 3 CSV files per year (1990-2025): </a:t>
            </a:r>
          </a:p>
          <a:p>
            <a:pPr marL="0" indent="0">
              <a:lnSpc>
                <a:spcPct val="110000"/>
              </a:lnSpc>
              <a:buNone/>
            </a:pPr>
            <a:r>
              <a:rPr lang="en-US" sz="1600" dirty="0"/>
              <a:t>1.</a:t>
            </a:r>
            <a:r>
              <a:rPr lang="en-US" sz="1600" b="0" i="0" dirty="0">
                <a:effectLst/>
              </a:rPr>
              <a:t>VAERSDATA.CSV: Contains demographic and AE information </a:t>
            </a:r>
          </a:p>
          <a:p>
            <a:pPr marL="0" indent="0">
              <a:lnSpc>
                <a:spcPct val="110000"/>
              </a:lnSpc>
              <a:buNone/>
            </a:pPr>
            <a:r>
              <a:rPr lang="en-US" sz="1600" b="0" i="0" dirty="0">
                <a:effectLst/>
              </a:rPr>
              <a:t>2. VAERSVAX.CSV: Vaccine-specific data</a:t>
            </a:r>
          </a:p>
          <a:p>
            <a:pPr marL="0" indent="0">
              <a:lnSpc>
                <a:spcPct val="110000"/>
              </a:lnSpc>
              <a:buNone/>
            </a:pPr>
            <a:r>
              <a:rPr lang="en-US" sz="1600" b="0" i="0" dirty="0">
                <a:effectLst/>
              </a:rPr>
              <a:t>3. VAERSSYMPTOMS.CSV: Detailed symptom information</a:t>
            </a:r>
            <a:endParaRPr lang="en-US" sz="1600" dirty="0"/>
          </a:p>
          <a:p>
            <a:pPr>
              <a:lnSpc>
                <a:spcPct val="110000"/>
              </a:lnSpc>
            </a:pPr>
            <a:r>
              <a:rPr lang="en-US" sz="1600" b="1" dirty="0"/>
              <a:t>Data volume: </a:t>
            </a:r>
          </a:p>
          <a:p>
            <a:pPr marL="0" indent="0">
              <a:lnSpc>
                <a:spcPct val="110000"/>
              </a:lnSpc>
              <a:buNone/>
            </a:pPr>
            <a:r>
              <a:rPr lang="en-US" sz="1600" dirty="0"/>
              <a:t>The total size of the zip file is 505.96 MB. </a:t>
            </a:r>
          </a:p>
          <a:p>
            <a:pPr marL="0" indent="0">
              <a:lnSpc>
                <a:spcPct val="110000"/>
              </a:lnSpc>
              <a:buNone/>
            </a:pPr>
            <a:r>
              <a:rPr lang="en-US" sz="1600" dirty="0"/>
              <a:t>VAERSDATA – 1418326 rows and 35 columns, VAERSSYMPTOM – 1844343 rows and 11 columns and VAERSVAX – 16008874 rows and 8 columns</a:t>
            </a:r>
          </a:p>
          <a:p>
            <a:pPr>
              <a:lnSpc>
                <a:spcPct val="110000"/>
              </a:lnSpc>
              <a:buFont typeface="Arial" panose="020B0604020202020204" pitchFamily="34" charset="0"/>
              <a:buChar char="•"/>
            </a:pPr>
            <a:r>
              <a:rPr lang="en-US" sz="1600" b="1" dirty="0"/>
              <a:t>Data quality considerations</a:t>
            </a:r>
            <a:r>
              <a:rPr lang="en-US" sz="1600" dirty="0"/>
              <a:t>:</a:t>
            </a:r>
          </a:p>
          <a:p>
            <a:pPr marL="0" indent="0">
              <a:lnSpc>
                <a:spcPct val="110000"/>
              </a:lnSpc>
              <a:buNone/>
            </a:pPr>
            <a:r>
              <a:rPr lang="en-US" sz="1600" b="0" i="0" dirty="0">
                <a:effectLst/>
              </a:rPr>
              <a:t>Self-reported data</a:t>
            </a:r>
            <a:r>
              <a:rPr lang="en-US" sz="1600" dirty="0"/>
              <a:t> m</a:t>
            </a:r>
            <a:r>
              <a:rPr lang="en-US" sz="1600" b="0" i="0" dirty="0">
                <a:effectLst/>
              </a:rPr>
              <a:t>ay include biases and inconsistencies, and not all AEs are reported to VAERS</a:t>
            </a:r>
          </a:p>
        </p:txBody>
      </p:sp>
      <p:sp>
        <p:nvSpPr>
          <p:cNvPr id="20" name="Rectangle 19">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1319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06352-5DA4-F0C2-F649-B7C9560CE0A0}"/>
              </a:ext>
            </a:extLst>
          </p:cNvPr>
          <p:cNvSpPr>
            <a:spLocks noGrp="1"/>
          </p:cNvSpPr>
          <p:nvPr>
            <p:ph type="title"/>
          </p:nvPr>
        </p:nvSpPr>
        <p:spPr>
          <a:xfrm>
            <a:off x="1371600" y="-16464"/>
            <a:ext cx="10241280" cy="1234440"/>
          </a:xfrm>
        </p:spPr>
        <p:txBody>
          <a:bodyPr/>
          <a:lstStyle/>
          <a:p>
            <a:pPr algn="ctr"/>
            <a:r>
              <a:rPr lang="en-US" dirty="0"/>
              <a:t>Data description</a:t>
            </a:r>
          </a:p>
        </p:txBody>
      </p:sp>
      <p:pic>
        <p:nvPicPr>
          <p:cNvPr id="7" name="Content Placeholder 6" descr="A screenshot of a computer program&#10;&#10;AI-generated content may be incorrect.">
            <a:extLst>
              <a:ext uri="{FF2B5EF4-FFF2-40B4-BE49-F238E27FC236}">
                <a16:creationId xmlns:a16="http://schemas.microsoft.com/office/drawing/2014/main" id="{D6237A17-540A-BD82-2738-3D62436F32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799" y="1326776"/>
            <a:ext cx="3618883" cy="4634753"/>
          </a:xfrm>
        </p:spPr>
      </p:pic>
      <p:pic>
        <p:nvPicPr>
          <p:cNvPr id="10" name="Picture 9" descr="A screenshot of a computer&#10;&#10;AI-generated content may be incorrect.">
            <a:extLst>
              <a:ext uri="{FF2B5EF4-FFF2-40B4-BE49-F238E27FC236}">
                <a16:creationId xmlns:a16="http://schemas.microsoft.com/office/drawing/2014/main" id="{EA652F52-D176-6991-DA59-CEBE1AE554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2141" y="1781753"/>
            <a:ext cx="4277322" cy="3724795"/>
          </a:xfrm>
          <a:prstGeom prst="rect">
            <a:avLst/>
          </a:prstGeom>
        </p:spPr>
      </p:pic>
      <p:pic>
        <p:nvPicPr>
          <p:cNvPr id="13" name="Picture 12" descr="A screenshot of a computer code&#10;&#10;AI-generated content may be incorrect.">
            <a:extLst>
              <a:ext uri="{FF2B5EF4-FFF2-40B4-BE49-F238E27FC236}">
                <a16:creationId xmlns:a16="http://schemas.microsoft.com/office/drawing/2014/main" id="{BAB7D77C-0C81-08BA-E39C-532480A836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2791" y="2148518"/>
            <a:ext cx="3164527" cy="2991267"/>
          </a:xfrm>
          <a:prstGeom prst="rect">
            <a:avLst/>
          </a:prstGeom>
        </p:spPr>
      </p:pic>
    </p:spTree>
    <p:extLst>
      <p:ext uri="{BB962C8B-B14F-4D97-AF65-F5344CB8AC3E}">
        <p14:creationId xmlns:p14="http://schemas.microsoft.com/office/powerpoint/2010/main" val="2581393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D02D-30BA-4596-9877-FC3256285D39}"/>
              </a:ext>
            </a:extLst>
          </p:cNvPr>
          <p:cNvSpPr>
            <a:spLocks noGrp="1"/>
          </p:cNvSpPr>
          <p:nvPr>
            <p:ph type="title"/>
          </p:nvPr>
        </p:nvSpPr>
        <p:spPr>
          <a:xfrm>
            <a:off x="332509" y="48492"/>
            <a:ext cx="10241280" cy="1234440"/>
          </a:xfrm>
        </p:spPr>
        <p:txBody>
          <a:bodyPr/>
          <a:lstStyle/>
          <a:p>
            <a:r>
              <a:rPr lang="en-US" dirty="0"/>
              <a:t>Merging </a:t>
            </a:r>
            <a:r>
              <a:rPr lang="en-US" dirty="0" err="1"/>
              <a:t>Dataframes</a:t>
            </a:r>
            <a:r>
              <a:rPr lang="en-US" dirty="0"/>
              <a:t> </a:t>
            </a:r>
          </a:p>
        </p:txBody>
      </p:sp>
      <p:sp>
        <p:nvSpPr>
          <p:cNvPr id="6" name="TextBox 5">
            <a:extLst>
              <a:ext uri="{FF2B5EF4-FFF2-40B4-BE49-F238E27FC236}">
                <a16:creationId xmlns:a16="http://schemas.microsoft.com/office/drawing/2014/main" id="{644E70E8-FDAA-1C5B-F1EF-3CFE62642450}"/>
              </a:ext>
            </a:extLst>
          </p:cNvPr>
          <p:cNvSpPr txBox="1"/>
          <p:nvPr/>
        </p:nvSpPr>
        <p:spPr>
          <a:xfrm>
            <a:off x="242454" y="1601631"/>
            <a:ext cx="6301725" cy="1754326"/>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After Merging all the </a:t>
            </a:r>
            <a:r>
              <a:rPr lang="en-US" dirty="0" err="1">
                <a:latin typeface="Arial" panose="020B0604020202020204" pitchFamily="34" charset="0"/>
                <a:cs typeface="Arial" panose="020B0604020202020204" pitchFamily="34" charset="0"/>
              </a:rPr>
              <a:t>dataframes</a:t>
            </a:r>
            <a:r>
              <a:rPr lang="en-US" dirty="0">
                <a:latin typeface="Arial" panose="020B0604020202020204" pitchFamily="34" charset="0"/>
                <a:cs typeface="Arial" panose="020B0604020202020204" pitchFamily="34" charset="0"/>
              </a:rPr>
              <a:t> from the year 2015 to 2025</a:t>
            </a:r>
          </a:p>
          <a:p>
            <a:r>
              <a:rPr lang="en-US" altLang="en-US" dirty="0">
                <a:latin typeface="Arial" panose="020B0604020202020204" pitchFamily="34" charset="0"/>
                <a:cs typeface="Arial" panose="020B0604020202020204" pitchFamily="34" charset="0"/>
              </a:rPr>
              <a:t>t</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otal size of data is </a:t>
            </a:r>
            <a:r>
              <a:rPr lang="en-IN" dirty="0">
                <a:latin typeface="Arial" panose="020B0604020202020204" pitchFamily="34" charset="0"/>
                <a:cs typeface="Arial" panose="020B0604020202020204" pitchFamily="34" charset="0"/>
              </a:rPr>
              <a:t>1.1+ GB</a:t>
            </a:r>
          </a:p>
          <a:p>
            <a:endParaRPr kumimoji="0" lang="en-US" altLang="en-US" b="0" i="0" u="none" strike="noStrike" cap="none" normalizeH="0" baseline="0" dirty="0">
              <a:ln>
                <a:noFill/>
              </a:ln>
              <a:solidFill>
                <a:schemeClr val="tx1"/>
              </a:solidFill>
              <a:effectLst/>
              <a:latin typeface="Arial" panose="020B0604020202020204" pitchFamily="34" charset="0"/>
            </a:endParaRPr>
          </a:p>
          <a:p>
            <a:r>
              <a:rPr lang="en-US" altLang="en-US" dirty="0">
                <a:latin typeface="Arial" panose="020B0604020202020204" pitchFamily="34" charset="0"/>
              </a:rPr>
              <a:t> It consists of total </a:t>
            </a:r>
            <a:r>
              <a:rPr lang="en-IN" dirty="0"/>
              <a:t> </a:t>
            </a:r>
            <a:r>
              <a:rPr lang="en-IN" dirty="0">
                <a:latin typeface="Arial" panose="020B0604020202020204" pitchFamily="34" charset="0"/>
                <a:cs typeface="Arial" panose="020B0604020202020204" pitchFamily="34" charset="0"/>
              </a:rPr>
              <a:t>2763537 </a:t>
            </a:r>
          </a:p>
          <a:p>
            <a:r>
              <a:rPr lang="en-US" altLang="en-US" dirty="0">
                <a:latin typeface="Arial" panose="020B0604020202020204" pitchFamily="34" charset="0"/>
              </a:rPr>
              <a:t> and 55 columns</a:t>
            </a:r>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US" dirty="0"/>
          </a:p>
        </p:txBody>
      </p:sp>
      <p:sp>
        <p:nvSpPr>
          <p:cNvPr id="8" name="Rectangle 2">
            <a:extLst>
              <a:ext uri="{FF2B5EF4-FFF2-40B4-BE49-F238E27FC236}">
                <a16:creationId xmlns:a16="http://schemas.microsoft.com/office/drawing/2014/main" id="{F87AA742-CAF5-A01B-434B-3B40271D74AB}"/>
              </a:ext>
            </a:extLst>
          </p:cNvPr>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Content Placeholder 8" descr="A screenshot of a computer screen&#10;&#10;AI-generated content may be incorrect.">
            <a:extLst>
              <a:ext uri="{FF2B5EF4-FFF2-40B4-BE49-F238E27FC236}">
                <a16:creationId xmlns:a16="http://schemas.microsoft.com/office/drawing/2014/main" id="{C8CB63E0-C9B6-55C5-E882-CA5F76FEF4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50127" y="818708"/>
            <a:ext cx="3469239" cy="4997302"/>
          </a:xfrm>
        </p:spPr>
      </p:pic>
    </p:spTree>
    <p:extLst>
      <p:ext uri="{BB962C8B-B14F-4D97-AF65-F5344CB8AC3E}">
        <p14:creationId xmlns:p14="http://schemas.microsoft.com/office/powerpoint/2010/main" val="3839346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5AA59-D445-D56C-4A2B-E04051527E9A}"/>
              </a:ext>
            </a:extLst>
          </p:cNvPr>
          <p:cNvSpPr>
            <a:spLocks noGrp="1"/>
          </p:cNvSpPr>
          <p:nvPr>
            <p:ph type="title"/>
          </p:nvPr>
        </p:nvSpPr>
        <p:spPr>
          <a:xfrm>
            <a:off x="1295400" y="-8802"/>
            <a:ext cx="10241280" cy="1234440"/>
          </a:xfrm>
        </p:spPr>
        <p:txBody>
          <a:bodyPr>
            <a:normAutofit/>
          </a:bodyPr>
          <a:lstStyle/>
          <a:p>
            <a:r>
              <a:rPr lang="en-US" dirty="0"/>
              <a:t>Exploratory</a:t>
            </a:r>
            <a:r>
              <a:rPr lang="en-US" sz="4000" dirty="0"/>
              <a:t> Data Analysis</a:t>
            </a:r>
          </a:p>
        </p:txBody>
      </p:sp>
      <p:sp>
        <p:nvSpPr>
          <p:cNvPr id="10" name="TextBox 9">
            <a:extLst>
              <a:ext uri="{FF2B5EF4-FFF2-40B4-BE49-F238E27FC236}">
                <a16:creationId xmlns:a16="http://schemas.microsoft.com/office/drawing/2014/main" id="{D7F48A9F-5717-08F0-9170-C9B16374F89B}"/>
              </a:ext>
            </a:extLst>
          </p:cNvPr>
          <p:cNvSpPr txBox="1"/>
          <p:nvPr/>
        </p:nvSpPr>
        <p:spPr>
          <a:xfrm>
            <a:off x="522428" y="1316073"/>
            <a:ext cx="3444533" cy="400110"/>
          </a:xfrm>
          <a:prstGeom prst="rect">
            <a:avLst/>
          </a:prstGeom>
          <a:noFill/>
        </p:spPr>
        <p:txBody>
          <a:bodyPr wrap="none" rtlCol="0">
            <a:spAutoFit/>
          </a:bodyPr>
          <a:lstStyle/>
          <a:p>
            <a:r>
              <a:rPr lang="en-US" sz="2000" b="1" dirty="0"/>
              <a:t>1. Understanding Vaccine type</a:t>
            </a:r>
          </a:p>
        </p:txBody>
      </p:sp>
      <p:pic>
        <p:nvPicPr>
          <p:cNvPr id="6" name="Picture 5">
            <a:extLst>
              <a:ext uri="{FF2B5EF4-FFF2-40B4-BE49-F238E27FC236}">
                <a16:creationId xmlns:a16="http://schemas.microsoft.com/office/drawing/2014/main" id="{7612EC6D-0316-19A4-6AF1-A3942120655A}"/>
              </a:ext>
            </a:extLst>
          </p:cNvPr>
          <p:cNvPicPr>
            <a:picLocks noChangeAspect="1"/>
          </p:cNvPicPr>
          <p:nvPr/>
        </p:nvPicPr>
        <p:blipFill>
          <a:blip r:embed="rId2"/>
          <a:stretch>
            <a:fillRect/>
          </a:stretch>
        </p:blipFill>
        <p:spPr>
          <a:xfrm>
            <a:off x="371426" y="2046917"/>
            <a:ext cx="6326032" cy="3548539"/>
          </a:xfrm>
          <a:prstGeom prst="rect">
            <a:avLst/>
          </a:prstGeom>
        </p:spPr>
      </p:pic>
      <p:sp>
        <p:nvSpPr>
          <p:cNvPr id="8" name="TextBox 7">
            <a:extLst>
              <a:ext uri="{FF2B5EF4-FFF2-40B4-BE49-F238E27FC236}">
                <a16:creationId xmlns:a16="http://schemas.microsoft.com/office/drawing/2014/main" id="{257F81F4-22DE-0926-3D06-A9E67BAEAF95}"/>
              </a:ext>
            </a:extLst>
          </p:cNvPr>
          <p:cNvSpPr txBox="1"/>
          <p:nvPr/>
        </p:nvSpPr>
        <p:spPr>
          <a:xfrm>
            <a:off x="7348756" y="2528524"/>
            <a:ext cx="4086004" cy="2585323"/>
          </a:xfrm>
          <a:prstGeom prst="rect">
            <a:avLst/>
          </a:prstGeom>
          <a:noFill/>
        </p:spPr>
        <p:txBody>
          <a:bodyPr wrap="square" rtlCol="0">
            <a:spAutoFit/>
          </a:bodyPr>
          <a:lstStyle/>
          <a:p>
            <a:r>
              <a:rPr lang="en-US" altLang="en-US" dirty="0">
                <a:latin typeface="__fkGroteskNeue_598ab8"/>
              </a:rPr>
              <a:t>With approximately 1.4 million side effects, COVID-19 immunizations out number all other vaccines, according to the chart. Vaccines like FLU3, TDAP, and VARCEL have modest counts, and VARZOS comes in second with significantly lower numbers, underscoring the dominant emphasis on COVID-19 immunizations.</a:t>
            </a:r>
          </a:p>
          <a:p>
            <a:endParaRPr lang="en-US" dirty="0"/>
          </a:p>
        </p:txBody>
      </p:sp>
    </p:spTree>
    <p:extLst>
      <p:ext uri="{BB962C8B-B14F-4D97-AF65-F5344CB8AC3E}">
        <p14:creationId xmlns:p14="http://schemas.microsoft.com/office/powerpoint/2010/main" val="1027841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0901CD3-B63B-88E4-17BA-6CDC6343BAFE}"/>
              </a:ext>
            </a:extLst>
          </p:cNvPr>
          <p:cNvSpPr txBox="1"/>
          <p:nvPr/>
        </p:nvSpPr>
        <p:spPr>
          <a:xfrm>
            <a:off x="470043" y="991295"/>
            <a:ext cx="6097712" cy="369332"/>
          </a:xfrm>
          <a:prstGeom prst="rect">
            <a:avLst/>
          </a:prstGeom>
          <a:noFill/>
        </p:spPr>
        <p:txBody>
          <a:bodyPr wrap="square">
            <a:spAutoFit/>
          </a:bodyPr>
          <a:lstStyle/>
          <a:p>
            <a:r>
              <a:rPr lang="en-US" sz="1800" b="1" dirty="0"/>
              <a:t>1. Understanding Vaccine type</a:t>
            </a:r>
          </a:p>
        </p:txBody>
      </p:sp>
      <p:sp>
        <p:nvSpPr>
          <p:cNvPr id="9" name="TextBox 8">
            <a:extLst>
              <a:ext uri="{FF2B5EF4-FFF2-40B4-BE49-F238E27FC236}">
                <a16:creationId xmlns:a16="http://schemas.microsoft.com/office/drawing/2014/main" id="{3FA5AFA5-E983-626E-14A8-7EE262751CE7}"/>
              </a:ext>
            </a:extLst>
          </p:cNvPr>
          <p:cNvSpPr txBox="1"/>
          <p:nvPr/>
        </p:nvSpPr>
        <p:spPr>
          <a:xfrm>
            <a:off x="7990614" y="1979028"/>
            <a:ext cx="3544584" cy="3416320"/>
          </a:xfrm>
          <a:prstGeom prst="rect">
            <a:avLst/>
          </a:prstGeom>
          <a:noFill/>
        </p:spPr>
        <p:txBody>
          <a:bodyPr wrap="square">
            <a:spAutoFit/>
          </a:bodyPr>
          <a:lstStyle/>
          <a:p>
            <a:r>
              <a:rPr lang="en-US" altLang="en-US" dirty="0"/>
              <a:t>After classifying vaccination types into more general categories such as "COVID" and "FLU," the graphic displays the top 4 vaccines with adverse events (AEs) that have been reported. </a:t>
            </a:r>
            <a:br>
              <a:rPr lang="en-US" altLang="en-US" dirty="0"/>
            </a:br>
            <a:br>
              <a:rPr lang="en-US" altLang="en-US" dirty="0"/>
            </a:br>
            <a:r>
              <a:rPr lang="en-US" altLang="en-US" dirty="0"/>
              <a:t>Since they are responsible for the majority of serious adverse events, these vaccines—COVID, VARZOS, FLU, and PPV—will be the subject of additional investigation</a:t>
            </a:r>
            <a:endParaRPr lang="en-US" dirty="0"/>
          </a:p>
        </p:txBody>
      </p:sp>
      <p:pic>
        <p:nvPicPr>
          <p:cNvPr id="6" name="Content Placeholder 5" descr="A graph of a vaccine&#10;&#10;AI-generated content may be incorrect.">
            <a:extLst>
              <a:ext uri="{FF2B5EF4-FFF2-40B4-BE49-F238E27FC236}">
                <a16:creationId xmlns:a16="http://schemas.microsoft.com/office/drawing/2014/main" id="{E10FCA2D-E02A-65CB-F2D9-B3BAFA35E8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578" y="1856372"/>
            <a:ext cx="7353014" cy="3959225"/>
          </a:xfrm>
        </p:spPr>
      </p:pic>
    </p:spTree>
    <p:extLst>
      <p:ext uri="{BB962C8B-B14F-4D97-AF65-F5344CB8AC3E}">
        <p14:creationId xmlns:p14="http://schemas.microsoft.com/office/powerpoint/2010/main" val="4093511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AAA1C82-B79B-0276-4EA0-A818F2F59CE5}"/>
              </a:ext>
            </a:extLst>
          </p:cNvPr>
          <p:cNvSpPr txBox="1"/>
          <p:nvPr/>
        </p:nvSpPr>
        <p:spPr>
          <a:xfrm>
            <a:off x="3566084" y="702025"/>
            <a:ext cx="5884240" cy="400110"/>
          </a:xfrm>
          <a:prstGeom prst="rect">
            <a:avLst/>
          </a:prstGeom>
          <a:noFill/>
        </p:spPr>
        <p:txBody>
          <a:bodyPr wrap="none" rtlCol="0">
            <a:spAutoFit/>
          </a:bodyPr>
          <a:lstStyle/>
          <a:p>
            <a:r>
              <a:rPr lang="en-US" sz="2000" b="1" dirty="0"/>
              <a:t>2. Understanding the demographics: Age and Gender</a:t>
            </a:r>
          </a:p>
        </p:txBody>
      </p:sp>
      <p:sp>
        <p:nvSpPr>
          <p:cNvPr id="9" name="TextBox 8">
            <a:extLst>
              <a:ext uri="{FF2B5EF4-FFF2-40B4-BE49-F238E27FC236}">
                <a16:creationId xmlns:a16="http://schemas.microsoft.com/office/drawing/2014/main" id="{B6BD2568-E1FC-967C-9FC1-926F16968C9F}"/>
              </a:ext>
            </a:extLst>
          </p:cNvPr>
          <p:cNvSpPr txBox="1"/>
          <p:nvPr/>
        </p:nvSpPr>
        <p:spPr>
          <a:xfrm>
            <a:off x="838293" y="4661103"/>
            <a:ext cx="5455577" cy="1200329"/>
          </a:xfrm>
          <a:prstGeom prst="rect">
            <a:avLst/>
          </a:prstGeom>
          <a:noFill/>
        </p:spPr>
        <p:txBody>
          <a:bodyPr wrap="square" rtlCol="0">
            <a:spAutoFit/>
          </a:bodyPr>
          <a:lstStyle/>
          <a:p>
            <a:r>
              <a:rPr lang="en-US" altLang="en-US" dirty="0"/>
              <a:t>The frequency of the age distribution with VAERS patient entries is displayed in the histogram. It indicates that older adults have a big influence, peaking at 50–60.</a:t>
            </a:r>
          </a:p>
          <a:p>
            <a:endParaRPr lang="en-US" dirty="0"/>
          </a:p>
        </p:txBody>
      </p:sp>
      <p:sp>
        <p:nvSpPr>
          <p:cNvPr id="12" name="TextBox 11">
            <a:extLst>
              <a:ext uri="{FF2B5EF4-FFF2-40B4-BE49-F238E27FC236}">
                <a16:creationId xmlns:a16="http://schemas.microsoft.com/office/drawing/2014/main" id="{A6BA9286-B7A4-0903-FBC2-9F7D50B038D4}"/>
              </a:ext>
            </a:extLst>
          </p:cNvPr>
          <p:cNvSpPr txBox="1"/>
          <p:nvPr/>
        </p:nvSpPr>
        <p:spPr>
          <a:xfrm>
            <a:off x="6861238" y="4965565"/>
            <a:ext cx="5178171" cy="1200329"/>
          </a:xfrm>
          <a:prstGeom prst="rect">
            <a:avLst/>
          </a:prstGeom>
          <a:noFill/>
        </p:spPr>
        <p:txBody>
          <a:bodyPr wrap="square" rtlCol="0">
            <a:spAutoFit/>
          </a:bodyPr>
          <a:lstStyle/>
          <a:p>
            <a:r>
              <a:rPr lang="en-US" altLang="en-US" dirty="0"/>
              <a:t>According to the pie chart, the majority of patients—61.0%—are female (F). Male (M): 31.9% of the total. Unspecified (U): 7.1% of the total.</a:t>
            </a:r>
          </a:p>
          <a:p>
            <a:endParaRPr lang="en-US" dirty="0"/>
          </a:p>
        </p:txBody>
      </p:sp>
      <p:pic>
        <p:nvPicPr>
          <p:cNvPr id="3" name="Picture 2" descr="A graph of age distribution&#10;&#10;AI-generated content may be incorrect.">
            <a:extLst>
              <a:ext uri="{FF2B5EF4-FFF2-40B4-BE49-F238E27FC236}">
                <a16:creationId xmlns:a16="http://schemas.microsoft.com/office/drawing/2014/main" id="{5D439837-710F-9664-CADD-7F42BA2634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228" y="1275127"/>
            <a:ext cx="6129709" cy="3212984"/>
          </a:xfrm>
          <a:prstGeom prst="rect">
            <a:avLst/>
          </a:prstGeom>
        </p:spPr>
      </p:pic>
      <p:pic>
        <p:nvPicPr>
          <p:cNvPr id="5" name="Picture 4" descr="A pie chart with text on it&#10;&#10;AI-generated content may be incorrect.">
            <a:extLst>
              <a:ext uri="{FF2B5EF4-FFF2-40B4-BE49-F238E27FC236}">
                <a16:creationId xmlns:a16="http://schemas.microsoft.com/office/drawing/2014/main" id="{3E3DDD40-FF84-3E16-070B-19DC14B049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1753" y="1222458"/>
            <a:ext cx="3608434" cy="3274042"/>
          </a:xfrm>
          <a:prstGeom prst="rect">
            <a:avLst/>
          </a:prstGeom>
        </p:spPr>
      </p:pic>
    </p:spTree>
    <p:extLst>
      <p:ext uri="{BB962C8B-B14F-4D97-AF65-F5344CB8AC3E}">
        <p14:creationId xmlns:p14="http://schemas.microsoft.com/office/powerpoint/2010/main" val="977375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C394756-25D6-E441-3631-4C436D01A6DC}"/>
              </a:ext>
            </a:extLst>
          </p:cNvPr>
          <p:cNvSpPr txBox="1"/>
          <p:nvPr/>
        </p:nvSpPr>
        <p:spPr>
          <a:xfrm>
            <a:off x="3986800" y="1184563"/>
            <a:ext cx="5189819" cy="400110"/>
          </a:xfrm>
          <a:prstGeom prst="rect">
            <a:avLst/>
          </a:prstGeom>
          <a:noFill/>
        </p:spPr>
        <p:txBody>
          <a:bodyPr wrap="none" rtlCol="0">
            <a:spAutoFit/>
          </a:bodyPr>
          <a:lstStyle/>
          <a:p>
            <a:r>
              <a:rPr lang="en-US" sz="2000" b="1" dirty="0"/>
              <a:t>3. Understanding Adverse events over the time</a:t>
            </a:r>
          </a:p>
        </p:txBody>
      </p:sp>
      <p:sp>
        <p:nvSpPr>
          <p:cNvPr id="8" name="TextBox 7">
            <a:extLst>
              <a:ext uri="{FF2B5EF4-FFF2-40B4-BE49-F238E27FC236}">
                <a16:creationId xmlns:a16="http://schemas.microsoft.com/office/drawing/2014/main" id="{F93F8F68-AAF3-218E-FEF0-85E748B97D33}"/>
              </a:ext>
            </a:extLst>
          </p:cNvPr>
          <p:cNvSpPr txBox="1"/>
          <p:nvPr/>
        </p:nvSpPr>
        <p:spPr>
          <a:xfrm>
            <a:off x="8014289" y="2115207"/>
            <a:ext cx="3386137" cy="3139321"/>
          </a:xfrm>
          <a:prstGeom prst="rect">
            <a:avLst/>
          </a:prstGeom>
          <a:noFill/>
        </p:spPr>
        <p:txBody>
          <a:bodyPr wrap="square">
            <a:spAutoFit/>
          </a:bodyPr>
          <a:lstStyle/>
          <a:p>
            <a:r>
              <a:rPr lang="en-US" altLang="en-US" dirty="0"/>
              <a:t>The start of the COVID-19 pandemic in late 2020 is accompanied by a notable increase in reports. In 2021, this tendency reaches a sharp climax. </a:t>
            </a:r>
            <a:br>
              <a:rPr lang="en-US" altLang="en-US" dirty="0"/>
            </a:br>
            <a:br>
              <a:rPr lang="en-US" altLang="en-US" dirty="0"/>
            </a:br>
            <a:r>
              <a:rPr lang="en-US" altLang="en-US" dirty="0"/>
              <a:t>There is a slow drop following the peak in 2021, but through 2024, there are still more reports than there were before the epidemic.</a:t>
            </a:r>
          </a:p>
          <a:p>
            <a:endParaRPr lang="en-US" dirty="0"/>
          </a:p>
        </p:txBody>
      </p:sp>
      <p:pic>
        <p:nvPicPr>
          <p:cNvPr id="3" name="Picture 2" descr="A graph showing a number of data&#10;&#10;AI-generated content may be incorrect.">
            <a:extLst>
              <a:ext uri="{FF2B5EF4-FFF2-40B4-BE49-F238E27FC236}">
                <a16:creationId xmlns:a16="http://schemas.microsoft.com/office/drawing/2014/main" id="{65C75147-C872-3219-855A-FA59506B8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48" y="2155094"/>
            <a:ext cx="7129407" cy="3059548"/>
          </a:xfrm>
          <a:prstGeom prst="rect">
            <a:avLst/>
          </a:prstGeom>
        </p:spPr>
      </p:pic>
    </p:spTree>
    <p:extLst>
      <p:ext uri="{BB962C8B-B14F-4D97-AF65-F5344CB8AC3E}">
        <p14:creationId xmlns:p14="http://schemas.microsoft.com/office/powerpoint/2010/main" val="3571834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5361C2A-7BEE-F80B-E05A-D94B2B17DB7C}"/>
              </a:ext>
            </a:extLst>
          </p:cNvPr>
          <p:cNvSpPr txBox="1"/>
          <p:nvPr/>
        </p:nvSpPr>
        <p:spPr>
          <a:xfrm>
            <a:off x="4097655" y="676572"/>
            <a:ext cx="6343650" cy="369332"/>
          </a:xfrm>
          <a:prstGeom prst="rect">
            <a:avLst/>
          </a:prstGeom>
          <a:noFill/>
        </p:spPr>
        <p:txBody>
          <a:bodyPr wrap="square">
            <a:spAutoFit/>
          </a:bodyPr>
          <a:lstStyle/>
          <a:p>
            <a:r>
              <a:rPr lang="en-US" sz="1800" b="1" dirty="0"/>
              <a:t>4. What are the top </a:t>
            </a:r>
            <a:r>
              <a:rPr lang="en-US" b="1" dirty="0"/>
              <a:t>25</a:t>
            </a:r>
            <a:r>
              <a:rPr lang="en-US" sz="1800" b="1" dirty="0"/>
              <a:t> symptoms?</a:t>
            </a:r>
          </a:p>
        </p:txBody>
      </p:sp>
      <p:sp>
        <p:nvSpPr>
          <p:cNvPr id="16" name="TextBox 15">
            <a:extLst>
              <a:ext uri="{FF2B5EF4-FFF2-40B4-BE49-F238E27FC236}">
                <a16:creationId xmlns:a16="http://schemas.microsoft.com/office/drawing/2014/main" id="{B0B98E7D-C066-2F21-B329-C0DCD13AABF8}"/>
              </a:ext>
            </a:extLst>
          </p:cNvPr>
          <p:cNvSpPr txBox="1"/>
          <p:nvPr/>
        </p:nvSpPr>
        <p:spPr>
          <a:xfrm>
            <a:off x="8053357" y="2274838"/>
            <a:ext cx="3148044" cy="2862322"/>
          </a:xfrm>
          <a:prstGeom prst="rect">
            <a:avLst/>
          </a:prstGeom>
          <a:noFill/>
        </p:spPr>
        <p:txBody>
          <a:bodyPr wrap="square" rtlCol="0">
            <a:spAutoFit/>
          </a:bodyPr>
          <a:lstStyle/>
          <a:p>
            <a:r>
              <a:rPr lang="en-US" altLang="en-US" dirty="0"/>
              <a:t>This bar graph shows that headache and fatigue were the most commonly reported symptoms. These are typical adverse responses, as evidenced by the close follow-up of </a:t>
            </a:r>
            <a:r>
              <a:rPr lang="en-US" altLang="en-US" dirty="0" err="1"/>
              <a:t>pyxeria</a:t>
            </a:r>
            <a:r>
              <a:rPr lang="en-US" altLang="en-US" dirty="0"/>
              <a:t>, discomfort, and chills. Top 25 symptoms are displayed on the graph.</a:t>
            </a:r>
          </a:p>
          <a:p>
            <a:endParaRPr lang="en-US" dirty="0"/>
          </a:p>
        </p:txBody>
      </p:sp>
      <p:pic>
        <p:nvPicPr>
          <p:cNvPr id="6" name="Picture 5" descr="A graph of a number of patients&#10;&#10;AI-generated content may be incorrect.">
            <a:extLst>
              <a:ext uri="{FF2B5EF4-FFF2-40B4-BE49-F238E27FC236}">
                <a16:creationId xmlns:a16="http://schemas.microsoft.com/office/drawing/2014/main" id="{EEE22CE8-71FF-D022-6180-F1CF4E996B22}"/>
              </a:ext>
            </a:extLst>
          </p:cNvPr>
          <p:cNvPicPr>
            <a:picLocks noChangeAspect="1"/>
          </p:cNvPicPr>
          <p:nvPr/>
        </p:nvPicPr>
        <p:blipFill>
          <a:blip r:embed="rId2">
            <a:extLst>
              <a:ext uri="{28A0092B-C50C-407E-A947-70E740481C1C}">
                <a14:useLocalDpi xmlns:a14="http://schemas.microsoft.com/office/drawing/2010/main" val="0"/>
              </a:ext>
            </a:extLst>
          </a:blip>
          <a:srcRect l="1907" r="5585"/>
          <a:stretch>
            <a:fillRect/>
          </a:stretch>
        </p:blipFill>
        <p:spPr>
          <a:xfrm>
            <a:off x="1317072" y="1100875"/>
            <a:ext cx="6090408" cy="4656249"/>
          </a:xfrm>
          <a:prstGeom prst="rect">
            <a:avLst/>
          </a:prstGeom>
        </p:spPr>
      </p:pic>
    </p:spTree>
    <p:extLst>
      <p:ext uri="{BB962C8B-B14F-4D97-AF65-F5344CB8AC3E}">
        <p14:creationId xmlns:p14="http://schemas.microsoft.com/office/powerpoint/2010/main" val="3517240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44F6E-7E7B-4C8F-92D4-B1496A2CC81B}"/>
              </a:ext>
            </a:extLst>
          </p:cNvPr>
          <p:cNvSpPr>
            <a:spLocks noGrp="1"/>
          </p:cNvSpPr>
          <p:nvPr>
            <p:ph type="title"/>
          </p:nvPr>
        </p:nvSpPr>
        <p:spPr>
          <a:xfrm>
            <a:off x="1383632" y="49557"/>
            <a:ext cx="10241280" cy="1234440"/>
          </a:xfrm>
        </p:spPr>
        <p:txBody>
          <a:bodyPr/>
          <a:lstStyle/>
          <a:p>
            <a:r>
              <a:rPr lang="en-US" dirty="0"/>
              <a:t>Vaccine Considered</a:t>
            </a:r>
          </a:p>
        </p:txBody>
      </p:sp>
      <p:sp>
        <p:nvSpPr>
          <p:cNvPr id="3" name="Content Placeholder 2">
            <a:extLst>
              <a:ext uri="{FF2B5EF4-FFF2-40B4-BE49-F238E27FC236}">
                <a16:creationId xmlns:a16="http://schemas.microsoft.com/office/drawing/2014/main" id="{8B816C91-B878-3910-8CF3-04423F1E1B5B}"/>
              </a:ext>
            </a:extLst>
          </p:cNvPr>
          <p:cNvSpPr>
            <a:spLocks noGrp="1"/>
          </p:cNvSpPr>
          <p:nvPr>
            <p:ph idx="1"/>
          </p:nvPr>
        </p:nvSpPr>
        <p:spPr>
          <a:xfrm>
            <a:off x="1279321" y="1743148"/>
            <a:ext cx="10241280" cy="3959352"/>
          </a:xfrm>
        </p:spPr>
        <p:txBody>
          <a:bodyPr>
            <a:normAutofit fontScale="92500" lnSpcReduction="10000"/>
          </a:bodyPr>
          <a:lstStyle/>
          <a:p>
            <a:r>
              <a:rPr lang="en-US" altLang="en-US" dirty="0"/>
              <a:t>The COVID vaccination prevents acute respiratory diseases in people that can produce severe symptoms and are brought on by a coronavirus.</a:t>
            </a:r>
          </a:p>
          <a:p>
            <a:r>
              <a:rPr lang="en-US" altLang="en-US" dirty="0"/>
              <a:t> The vaccine known as VARICELLA-ZOSTER (VARZOS): vaccine that lowers the risk of herpes zoster, popularly known as shingles, a condition brought on by the varicella-zoster virus (VZV), which also causes chickenpox. </a:t>
            </a:r>
          </a:p>
          <a:p>
            <a:r>
              <a:rPr lang="en-US" altLang="en-US" dirty="0"/>
              <a:t>The influenza vaccine guards against the virus and its potentially dangerous side effects.</a:t>
            </a:r>
          </a:p>
          <a:p>
            <a:r>
              <a:rPr lang="en-US" altLang="en-US" dirty="0"/>
              <a:t> Particularly in elderly people and those with compromised immune systems, the PPV vaccine guards against diseases like pneumonia and meningitis brought on by the Streptococcus pneumoniae bacteria.</a:t>
            </a:r>
          </a:p>
          <a:p>
            <a:endParaRPr lang="en-US" dirty="0"/>
          </a:p>
          <a:p>
            <a:endParaRPr lang="en-US" dirty="0"/>
          </a:p>
          <a:p>
            <a:endParaRPr lang="en-US" dirty="0"/>
          </a:p>
        </p:txBody>
      </p:sp>
    </p:spTree>
    <p:extLst>
      <p:ext uri="{BB962C8B-B14F-4D97-AF65-F5344CB8AC3E}">
        <p14:creationId xmlns:p14="http://schemas.microsoft.com/office/powerpoint/2010/main" val="454792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B99F0C-4F2A-593A-18D7-CBEC10FDD151}"/>
              </a:ext>
            </a:extLst>
          </p:cNvPr>
          <p:cNvSpPr>
            <a:spLocks noGrp="1"/>
          </p:cNvSpPr>
          <p:nvPr>
            <p:ph type="title"/>
          </p:nvPr>
        </p:nvSpPr>
        <p:spPr>
          <a:xfrm>
            <a:off x="1111990" y="-653199"/>
            <a:ext cx="5929422" cy="1852976"/>
          </a:xfrm>
        </p:spPr>
        <p:txBody>
          <a:bodyPr>
            <a:normAutofit/>
          </a:bodyPr>
          <a:lstStyle/>
          <a:p>
            <a:r>
              <a:rPr lang="en-US" sz="4000" dirty="0"/>
              <a:t>Data engineering</a:t>
            </a:r>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nancial graphs on a dark display">
            <a:extLst>
              <a:ext uri="{FF2B5EF4-FFF2-40B4-BE49-F238E27FC236}">
                <a16:creationId xmlns:a16="http://schemas.microsoft.com/office/drawing/2014/main" id="{11A927FA-9EC1-BDAD-1DE5-4372D9CDFB4A}"/>
              </a:ext>
            </a:extLst>
          </p:cNvPr>
          <p:cNvPicPr>
            <a:picLocks noChangeAspect="1"/>
          </p:cNvPicPr>
          <p:nvPr/>
        </p:nvPicPr>
        <p:blipFill>
          <a:blip r:embed="rId2"/>
          <a:srcRect l="27247" r="33057" b="2"/>
          <a:stretch/>
        </p:blipFill>
        <p:spPr>
          <a:xfrm>
            <a:off x="8115300" y="-12515"/>
            <a:ext cx="4076700" cy="6418631"/>
          </a:xfrm>
          <a:prstGeom prst="rect">
            <a:avLst/>
          </a:prstGeom>
        </p:spPr>
      </p:pic>
      <p:sp>
        <p:nvSpPr>
          <p:cNvPr id="4" name="Rectangle 1">
            <a:extLst>
              <a:ext uri="{FF2B5EF4-FFF2-40B4-BE49-F238E27FC236}">
                <a16:creationId xmlns:a16="http://schemas.microsoft.com/office/drawing/2014/main" id="{F7CECA94-D324-DC3C-D82C-844102B6C5FB}"/>
              </a:ext>
            </a:extLst>
          </p:cNvPr>
          <p:cNvSpPr>
            <a:spLocks noGrp="1" noChangeArrowheads="1"/>
          </p:cNvSpPr>
          <p:nvPr>
            <p:ph idx="1"/>
          </p:nvPr>
        </p:nvSpPr>
        <p:spPr bwMode="auto">
          <a:xfrm>
            <a:off x="245652" y="1997839"/>
            <a:ext cx="766209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__fkGroteskNeue_598ab8"/>
              </a:rPr>
              <a:t>Steps in Data Preprocessing</a:t>
            </a:r>
          </a:p>
          <a:p>
            <a:pPr marL="0" indent="0" eaLnBrk="0" fontAlgn="base" hangingPunct="0">
              <a:lnSpc>
                <a:spcPct val="100000"/>
              </a:lnSpc>
              <a:spcBef>
                <a:spcPct val="0"/>
              </a:spcBef>
              <a:spcAft>
                <a:spcPct val="0"/>
              </a:spcAft>
              <a:buNone/>
            </a:pPr>
            <a:endParaRPr kumimoji="0" lang="en-US" altLang="en-US" sz="1800" b="1" i="0" u="none" strike="noStrike" cap="none" normalizeH="0" baseline="0" dirty="0">
              <a:ln>
                <a:noFill/>
              </a:ln>
              <a:solidFill>
                <a:schemeClr val="tx1"/>
              </a:solidFill>
              <a:effectLst/>
              <a:latin typeface="__fkGroteskNeue_598ab8"/>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__fkGroteskNeue_598ab8"/>
              </a:rPr>
              <a:t>Combining each year's three CSV files (VAERSDATA, VAERSVAX,</a:t>
            </a:r>
          </a:p>
          <a:p>
            <a:pPr marL="0" indent="0" eaLnBrk="0" fontAlgn="base" hangingPunct="0">
              <a:lnSpc>
                <a:spcPct val="100000"/>
              </a:lnSpc>
              <a:spcBef>
                <a:spcPct val="0"/>
              </a:spcBef>
              <a:spcAft>
                <a:spcPct val="0"/>
              </a:spcAft>
              <a:buNone/>
            </a:pPr>
            <a:r>
              <a:rPr lang="en-US" altLang="en-US" sz="1800" dirty="0">
                <a:latin typeface="__fkGroteskNeue_598ab8"/>
              </a:rPr>
              <a:t>   </a:t>
            </a:r>
            <a:r>
              <a:rPr kumimoji="0" lang="en-US" altLang="en-US" sz="1800" b="0" i="0" u="none" strike="noStrike" cap="none" normalizeH="0" baseline="0" dirty="0">
                <a:ln>
                  <a:noFill/>
                </a:ln>
                <a:solidFill>
                  <a:schemeClr val="tx1"/>
                </a:solidFill>
                <a:effectLst/>
                <a:latin typeface="__fkGroteskNeue_598ab8"/>
              </a:rPr>
              <a:t> and VAERSSYMPTOMS) </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__fkGroteskNeue_598ab8"/>
              </a:rPr>
              <a:t>Managing inconsistent data and missing values </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__fkGroteskNeue_598ab8"/>
              </a:rPr>
              <a:t>Categorical variables (such as vaccination types and symptoms) are encoded. </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__fkGroteskNeue_598ab8"/>
              </a:rPr>
              <a:t>Engineering features: To better capture the underlying patterns,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latin typeface="__fkGroteskNeue_598ab8"/>
              </a:rPr>
              <a:t>    </a:t>
            </a:r>
            <a:r>
              <a:rPr kumimoji="0" lang="en-US" altLang="en-US" sz="1800" b="0" i="0" u="none" strike="noStrike" cap="none" normalizeH="0" baseline="0" dirty="0">
                <a:ln>
                  <a:noFill/>
                </a:ln>
                <a:solidFill>
                  <a:schemeClr val="tx1"/>
                </a:solidFill>
                <a:effectLst/>
                <a:latin typeface="__fkGroteskNeue_598ab8"/>
              </a:rPr>
              <a:t>raw data is transformed and new variables (features) are created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__fkGroteskNeue_598ab8"/>
              </a:rPr>
              <a:t>    based on the data that already exists. </a:t>
            </a:r>
            <a:br>
              <a:rPr kumimoji="0" lang="en-US" altLang="en-US" sz="1800" b="0" i="0" u="none" strike="noStrike" cap="none" normalizeH="0" baseline="0" dirty="0">
                <a:ln>
                  <a:noFill/>
                </a:ln>
                <a:solidFill>
                  <a:schemeClr val="tx1"/>
                </a:solidFill>
                <a:effectLst/>
                <a:latin typeface="__fkGroteskNeue_598ab8"/>
              </a:rPr>
            </a:br>
            <a:r>
              <a:rPr kumimoji="0" lang="en-US" altLang="en-US" sz="1800" b="0" i="0" u="none" strike="noStrike" cap="none" normalizeH="0" baseline="0" dirty="0">
                <a:ln>
                  <a:noFill/>
                </a:ln>
                <a:solidFill>
                  <a:schemeClr val="tx1"/>
                </a:solidFill>
                <a:effectLst/>
                <a:latin typeface="__fkGroteskNeue_598ab8"/>
              </a:rPr>
              <a:t>    Create a target variable.</a:t>
            </a:r>
          </a:p>
        </p:txBody>
      </p:sp>
    </p:spTree>
    <p:extLst>
      <p:ext uri="{BB962C8B-B14F-4D97-AF65-F5344CB8AC3E}">
        <p14:creationId xmlns:p14="http://schemas.microsoft.com/office/powerpoint/2010/main" val="4290355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9158A-8628-A0C0-4EA4-49FB4E52FB03}"/>
              </a:ext>
            </a:extLst>
          </p:cNvPr>
          <p:cNvSpPr>
            <a:spLocks noGrp="1"/>
          </p:cNvSpPr>
          <p:nvPr>
            <p:ph type="title"/>
          </p:nvPr>
        </p:nvSpPr>
        <p:spPr>
          <a:xfrm>
            <a:off x="1308847" y="454869"/>
            <a:ext cx="10241280" cy="1234440"/>
          </a:xfrm>
        </p:spPr>
        <p:txBody>
          <a:bodyPr/>
          <a:lstStyle/>
          <a:p>
            <a:r>
              <a:rPr lang="en-US" dirty="0"/>
              <a:t>Project Scope</a:t>
            </a:r>
          </a:p>
        </p:txBody>
      </p:sp>
      <p:sp>
        <p:nvSpPr>
          <p:cNvPr id="3" name="Content Placeholder 2">
            <a:extLst>
              <a:ext uri="{FF2B5EF4-FFF2-40B4-BE49-F238E27FC236}">
                <a16:creationId xmlns:a16="http://schemas.microsoft.com/office/drawing/2014/main" id="{49A4D423-147D-9D13-A8F0-53C56C228113}"/>
              </a:ext>
            </a:extLst>
          </p:cNvPr>
          <p:cNvSpPr>
            <a:spLocks noGrp="1"/>
          </p:cNvSpPr>
          <p:nvPr>
            <p:ph idx="1"/>
          </p:nvPr>
        </p:nvSpPr>
        <p:spPr/>
        <p:txBody>
          <a:bodyPr/>
          <a:lstStyle/>
          <a:p>
            <a:r>
              <a:rPr lang="en-US" altLang="en-US" dirty="0"/>
              <a:t>The following vaccines were taken into consideration: COVID-19, influenza (FLU), varicella-zoster (VARZOS), and pneumococcal vaccine polyvalent (PPV).</a:t>
            </a:r>
          </a:p>
          <a:p>
            <a:r>
              <a:rPr lang="en-US" altLang="en-US" dirty="0"/>
              <a:t>The challenge is estimating the likelihood of severe adverse events (AEs) from patient demographics, symptoms, and medical history. gaining knowledge to determine which vaccinations are safest for various patient types.</a:t>
            </a:r>
          </a:p>
          <a:p>
            <a:endParaRPr lang="en-US" altLang="en-US" dirty="0"/>
          </a:p>
          <a:p>
            <a:endParaRPr lang="en-US" altLang="en-US" dirty="0"/>
          </a:p>
          <a:p>
            <a:pPr marL="0" indent="0">
              <a:buNone/>
            </a:pPr>
            <a:endParaRPr lang="en-US" dirty="0"/>
          </a:p>
        </p:txBody>
      </p:sp>
    </p:spTree>
    <p:extLst>
      <p:ext uri="{BB962C8B-B14F-4D97-AF65-F5344CB8AC3E}">
        <p14:creationId xmlns:p14="http://schemas.microsoft.com/office/powerpoint/2010/main" val="694620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8F1DA978-2FF0-4E09-976F-91C6D4AA5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EC398C5-5C2E-4038-9DB3-DE2B5A9BE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0619" y="381383"/>
            <a:ext cx="6858000" cy="6095233"/>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2F10B26-073B-4B10-8AAA-161242DD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25488" y="125488"/>
            <a:ext cx="6346209" cy="6095235"/>
          </a:xfrm>
          <a:prstGeom prst="rect">
            <a:avLst/>
          </a:prstGeom>
          <a:gradFill>
            <a:gsLst>
              <a:gs pos="0">
                <a:schemeClr val="accent5">
                  <a:lumMod val="60000"/>
                  <a:lumOff val="40000"/>
                  <a:alpha val="0"/>
                </a:schemeClr>
              </a:gs>
              <a:gs pos="99000">
                <a:schemeClr val="accent2">
                  <a:alpha val="9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10DBBC7-698F-4A54-B1CB-A99F9CC35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788104" y="2550870"/>
            <a:ext cx="2501979" cy="6112279"/>
          </a:xfrm>
          <a:prstGeom prst="rect">
            <a:avLst/>
          </a:prstGeom>
          <a:gradFill>
            <a:gsLst>
              <a:gs pos="2000">
                <a:schemeClr val="accent5">
                  <a:alpha val="28000"/>
                </a:schemeClr>
              </a:gs>
              <a:gs pos="100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79BBB12-9455-421B-86B2-0EA775202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72450" y="728296"/>
            <a:ext cx="4808302" cy="4808302"/>
          </a:xfrm>
          <a:prstGeom prst="ellipse">
            <a:avLst/>
          </a:pr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FC75BA61-C3D1-91F2-6F8A-DB9AD66FBCC8}"/>
              </a:ext>
            </a:extLst>
          </p:cNvPr>
          <p:cNvSpPr>
            <a:spLocks noGrp="1"/>
          </p:cNvSpPr>
          <p:nvPr>
            <p:ph type="title"/>
          </p:nvPr>
        </p:nvSpPr>
        <p:spPr>
          <a:xfrm>
            <a:off x="872556" y="740563"/>
            <a:ext cx="4688488" cy="3232560"/>
          </a:xfrm>
        </p:spPr>
        <p:txBody>
          <a:bodyPr vert="horz" lIns="0" tIns="0" rIns="0" bIns="0" rtlCol="0" anchor="b">
            <a:normAutofit/>
          </a:bodyPr>
          <a:lstStyle/>
          <a:p>
            <a:r>
              <a:rPr lang="en-US" sz="4000" spc="750">
                <a:solidFill>
                  <a:schemeClr val="bg1"/>
                </a:solidFill>
              </a:rPr>
              <a:t>Thank you</a:t>
            </a:r>
          </a:p>
        </p:txBody>
      </p:sp>
      <p:pic>
        <p:nvPicPr>
          <p:cNvPr id="8" name="Graphic 7" descr="Smiling Face with No Fill">
            <a:extLst>
              <a:ext uri="{FF2B5EF4-FFF2-40B4-BE49-F238E27FC236}">
                <a16:creationId xmlns:a16="http://schemas.microsoft.com/office/drawing/2014/main" id="{F4DA3F9F-88C9-FA86-067D-597A5111C3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19154" y="1199785"/>
            <a:ext cx="4449692" cy="4449692"/>
          </a:xfrm>
          <a:prstGeom prst="rect">
            <a:avLst/>
          </a:prstGeom>
        </p:spPr>
      </p:pic>
    </p:spTree>
    <p:extLst>
      <p:ext uri="{BB962C8B-B14F-4D97-AF65-F5344CB8AC3E}">
        <p14:creationId xmlns:p14="http://schemas.microsoft.com/office/powerpoint/2010/main" val="1302272413"/>
      </p:ext>
    </p:extLst>
  </p:cSld>
  <p:clrMapOvr>
    <a:masterClrMapping/>
  </p:clrMapOvr>
</p:sld>
</file>

<file path=ppt/theme/theme1.xml><?xml version="1.0" encoding="utf-8"?>
<a:theme xmlns:a="http://schemas.openxmlformats.org/drawingml/2006/main" name="GradientRiseVTI">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Avenir">
      <a:majorFont>
        <a:latin typeface="Tw Cen MT"/>
        <a:ea typeface=""/>
        <a:cs typeface=""/>
      </a:majorFont>
      <a:minorFont>
        <a:latin typeface="Tw Cen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6ddff550-1033-4cd5-9e4a-14ebbdbd9c4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ED97B6C636F304E91C87D8EF503E0BD" ma:contentTypeVersion="9" ma:contentTypeDescription="Create a new document." ma:contentTypeScope="" ma:versionID="9cef270fbd3fa45ad152fba8bbc956cd">
  <xsd:schema xmlns:xsd="http://www.w3.org/2001/XMLSchema" xmlns:xs="http://www.w3.org/2001/XMLSchema" xmlns:p="http://schemas.microsoft.com/office/2006/metadata/properties" xmlns:ns3="6ddff550-1033-4cd5-9e4a-14ebbdbd9c49" xmlns:ns4="0ebd44a9-41b8-4e33-a136-3ce14a6f51d0" targetNamespace="http://schemas.microsoft.com/office/2006/metadata/properties" ma:root="true" ma:fieldsID="f12077d1ecaa25207a9a1523547f0e65" ns3:_="" ns4:_="">
    <xsd:import namespace="6ddff550-1033-4cd5-9e4a-14ebbdbd9c49"/>
    <xsd:import namespace="0ebd44a9-41b8-4e33-a136-3ce14a6f51d0"/>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dff550-1033-4cd5-9e4a-14ebbdbd9c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bd44a9-41b8-4e33-a136-3ce14a6f51d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64E9049-A4AB-4D4C-8C0F-BA3C7A6AFF80}">
  <ds:schemaRefs>
    <ds:schemaRef ds:uri="http://schemas.microsoft.com/sharepoint/v3/contenttype/forms"/>
  </ds:schemaRefs>
</ds:datastoreItem>
</file>

<file path=customXml/itemProps2.xml><?xml version="1.0" encoding="utf-8"?>
<ds:datastoreItem xmlns:ds="http://schemas.openxmlformats.org/officeDocument/2006/customXml" ds:itemID="{5B1B692F-9F4A-4636-9FF9-1C56571ED7BB}">
  <ds:schemaRefs>
    <ds:schemaRef ds:uri="http://purl.org/dc/terms/"/>
    <ds:schemaRef ds:uri="http://schemas.openxmlformats.org/package/2006/metadata/core-properties"/>
    <ds:schemaRef ds:uri="http://schemas.microsoft.com/office/2006/documentManagement/types"/>
    <ds:schemaRef ds:uri="0ebd44a9-41b8-4e33-a136-3ce14a6f51d0"/>
    <ds:schemaRef ds:uri="http://schemas.microsoft.com/office/2006/metadata/properties"/>
    <ds:schemaRef ds:uri="http://purl.org/dc/elements/1.1/"/>
    <ds:schemaRef ds:uri="http://schemas.microsoft.com/office/infopath/2007/PartnerControls"/>
    <ds:schemaRef ds:uri="6ddff550-1033-4cd5-9e4a-14ebbdbd9c49"/>
    <ds:schemaRef ds:uri="http://www.w3.org/XML/1998/namespace"/>
    <ds:schemaRef ds:uri="http://purl.org/dc/dcmitype/"/>
  </ds:schemaRefs>
</ds:datastoreItem>
</file>

<file path=customXml/itemProps3.xml><?xml version="1.0" encoding="utf-8"?>
<ds:datastoreItem xmlns:ds="http://schemas.openxmlformats.org/officeDocument/2006/customXml" ds:itemID="{DD9F22F7-B079-451C-B7D5-1B492F23B4B2}">
  <ds:schemaRefs>
    <ds:schemaRef ds:uri="0ebd44a9-41b8-4e33-a136-3ce14a6f51d0"/>
    <ds:schemaRef ds:uri="6ddff550-1033-4cd5-9e4a-14ebbdbd9c4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1267</TotalTime>
  <Words>1263</Words>
  <Application>Microsoft Office PowerPoint</Application>
  <PresentationFormat>Widescreen</PresentationFormat>
  <Paragraphs>95</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__fkGroteskNeue_598ab8</vt:lpstr>
      <vt:lpstr>Arial</vt:lpstr>
      <vt:lpstr>Calibri</vt:lpstr>
      <vt:lpstr>Tw Cen MT</vt:lpstr>
      <vt:lpstr>var(--font-fk-grotesk-neue)</vt:lpstr>
      <vt:lpstr>GradientRiseVTI</vt:lpstr>
      <vt:lpstr>VaCCINE RISK Analysis of VAERS Reports for Vaccine Safety Assessment</vt:lpstr>
      <vt:lpstr>TABLE OF CONTENTS</vt:lpstr>
      <vt:lpstr>OVERVIEW</vt:lpstr>
      <vt:lpstr>Project Rationale</vt:lpstr>
      <vt:lpstr>Research Question and Hypothesis</vt:lpstr>
      <vt:lpstr>Motivation Behind the study</vt:lpstr>
      <vt:lpstr>Overview of similar approaches</vt:lpstr>
      <vt:lpstr>introduction to Dataset</vt:lpstr>
      <vt:lpstr>Data description</vt:lpstr>
      <vt:lpstr>Merging Dataframes </vt:lpstr>
      <vt:lpstr>Exploratory Data Analysis</vt:lpstr>
      <vt:lpstr>PowerPoint Presentation</vt:lpstr>
      <vt:lpstr>PowerPoint Presentation</vt:lpstr>
      <vt:lpstr>PowerPoint Presentation</vt:lpstr>
      <vt:lpstr>PowerPoint Presentation</vt:lpstr>
      <vt:lpstr>Vaccine Considered</vt:lpstr>
      <vt:lpstr>Data engineering</vt:lpstr>
      <vt:lpstr>Project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Chandrikarani Akash</dc:creator>
  <cp:lastModifiedBy>Sri Spoorthy Nadella</cp:lastModifiedBy>
  <cp:revision>8</cp:revision>
  <dcterms:created xsi:type="dcterms:W3CDTF">2024-10-07T14:34:21Z</dcterms:created>
  <dcterms:modified xsi:type="dcterms:W3CDTF">2025-09-18T17:54:25Z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0x0101005ED97B6C636F304E91C87D8EF503E0BD</vt:lpwstr>
  </property>
</Properties>
</file>